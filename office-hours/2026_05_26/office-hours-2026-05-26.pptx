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6"/>
  </p:normalViewPr>
  <p:slideViewPr>
    <p:cSldViewPr snapToGrid="0" snapToObjects="1">
      <p:cViewPr varScale="1">
        <p:scale>
          <a:sx n="158" d="100"/>
          <a:sy n="158" d="100"/>
        </p:scale>
        <p:origin x="6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techcrunch.com/2026/05/19/google-launches-antigravity-2-0-with-an-updated-desktop-app-and-cli-tool-at-io-2026/" TargetMode="External"/><Relationship Id="rId13" Type="http://schemas.openxmlformats.org/officeDocument/2006/relationships/hyperlink" Target="https://blog.pamelafox.org/2026/05/pycon-2026-reflections.html" TargetMode="External"/><Relationship Id="rId18" Type="http://schemas.openxmlformats.org/officeDocument/2006/relationships/hyperlink" Target="https://github.com/mattgotteiner/gmail-local-mcp" TargetMode="External"/><Relationship Id="rId3" Type="http://schemas.openxmlformats.org/officeDocument/2006/relationships/hyperlink" Target="https://microsoft.ai/news/today-were-announcing-3-new-world-class-mai-models-available-in-foundry/" TargetMode="External"/><Relationship Id="rId21" Type="http://schemas.openxmlformats.org/officeDocument/2006/relationships/hyperlink" Target="https://2026.djangocon.us" TargetMode="External"/><Relationship Id="rId7" Type="http://schemas.openxmlformats.org/officeDocument/2006/relationships/hyperlink" Target="https://github.com/microsoft/agent-framework/pull/5915" TargetMode="External"/><Relationship Id="rId12" Type="http://schemas.openxmlformats.org/officeDocument/2006/relationships/hyperlink" Target="https://workos.com/blog/agent-registration-with-auth-md" TargetMode="External"/><Relationship Id="rId17" Type="http://schemas.openxmlformats.org/officeDocument/2006/relationships/hyperlink" Target="https://github.com/pamelafox/review-pr-comments" TargetMode="External"/><Relationship Id="rId2" Type="http://schemas.openxmlformats.org/officeDocument/2006/relationships/hyperlink" Target="https://learn.microsoft.com/en-us/azure/ai-foundry/openai/concepts/assistants" TargetMode="External"/><Relationship Id="rId16" Type="http://schemas.openxmlformats.org/officeDocument/2006/relationships/hyperlink" Target="https://youtube.com/watch?v=LYwV8IQVRIo" TargetMode="External"/><Relationship Id="rId20" Type="http://schemas.openxmlformats.org/officeDocument/2006/relationships/hyperlink" Target="https://posetteconf.com/2026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blog/changelog/2026-05-20-updates-to-available-models-in-copilot-on-web/" TargetMode="External"/><Relationship Id="rId11" Type="http://schemas.openxmlformats.org/officeDocument/2006/relationships/hyperlink" Target="https://github.com/modelcontextprotocol/modelcontextprotocol" TargetMode="External"/><Relationship Id="rId5" Type="http://schemas.openxmlformats.org/officeDocument/2006/relationships/hyperlink" Target="https://github.com/github/github-mcp-server/pull/1856" TargetMode="External"/><Relationship Id="rId15" Type="http://schemas.openxmlformats.org/officeDocument/2006/relationships/hyperlink" Target="https://pamelafox.github.io/pycon2026-mcp-tutorial/" TargetMode="External"/><Relationship Id="rId10" Type="http://schemas.openxmlformats.org/officeDocument/2006/relationships/hyperlink" Target="https://anthropic.com/research/glasswing-initial-update" TargetMode="External"/><Relationship Id="rId19" Type="http://schemas.openxmlformats.org/officeDocument/2006/relationships/hyperlink" Target="https://build.microsoft.com" TargetMode="External"/><Relationship Id="rId4" Type="http://schemas.openxmlformats.org/officeDocument/2006/relationships/hyperlink" Target="https://learn.microsoft.com/en-us/azure/ai-services/openai/how-to/responses" TargetMode="External"/><Relationship Id="rId9" Type="http://schemas.openxmlformats.org/officeDocument/2006/relationships/hyperlink" Target="https://developers.openai.com/codex/app/chrome-extension" TargetMode="External"/><Relationship Id="rId14" Type="http://schemas.openxmlformats.org/officeDocument/2006/relationships/hyperlink" Target="https://pamelafox.github.io/ai-powered-presentation-workflow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0"/>
              </a:spcAft>
            </a:pPr>
            <a:r>
              <a:rPr sz="2200" b="1">
                <a:solidFill>
                  <a:srgbClr val="0B5ED7"/>
                </a:solidFill>
              </a:rPr>
              <a:t>🐍 Python + AI Office Hours — Weekly News Roundup — May 26,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3931920" cy="517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6F2DA8"/>
                </a:solidFill>
              </a:rPr>
              <a:t>🏢 Microsoft / GitHub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Azure OpenAI Assistants API retiring Aug 26</a:t>
            </a:r>
            <a:r>
              <a:rPr sz="1400" dirty="0">
                <a:solidFill>
                  <a:srgbClr val="6C757D"/>
                </a:solidFill>
                <a:hlinkClick r:id="rId2"/>
              </a:rPr>
              <a:t>  learn.microsoft.com/en-us/azure/ai-foundry/openai/concepts/assistants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Migrate Assistants → Foundry Agent Service</a:t>
            </a:r>
            <a:r>
              <a:rPr sz="1400" dirty="0">
                <a:solidFill>
                  <a:srgbClr val="6C757D"/>
                </a:solidFill>
                <a:hlinkClick r:id="rId2"/>
              </a:rPr>
              <a:t>  learn.microsoft.com/en-us/azure/ai-foundry/openai/concepts/assistants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MAI models: image, voice, transcribe in Foundry</a:t>
            </a:r>
            <a:r>
              <a:rPr sz="1400" dirty="0">
                <a:solidFill>
                  <a:srgbClr val="6C757D"/>
                </a:solidFill>
                <a:hlinkClick r:id="rId3"/>
              </a:rPr>
              <a:t>  microsoft.ai/news/today-were-announcing-3-new-world-class-mai-models-available-in-foundry/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Responses API: new standard for Azure OpenAI</a:t>
            </a:r>
            <a:r>
              <a:rPr sz="1400" dirty="0">
                <a:solidFill>
                  <a:srgbClr val="6C757D"/>
                </a:solidFill>
                <a:hlinkClick r:id="rId4"/>
              </a:rPr>
              <a:t>  learn.microsoft.com/en-us/azure/ai-services/openai/how-to/responses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GitHub MCP server: reply to inline PR comments</a:t>
            </a:r>
            <a:r>
              <a:rPr sz="1400" dirty="0">
                <a:solidFill>
                  <a:srgbClr val="6C757D"/>
                </a:solidFill>
                <a:hlinkClick r:id="rId5"/>
              </a:rPr>
              <a:t>  github.com/github/github-mcp-server/pull/1856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GitHub Copilot model menu refined for consistency</a:t>
            </a:r>
            <a:r>
              <a:rPr sz="1400" dirty="0">
                <a:solidFill>
                  <a:srgbClr val="6C757D"/>
                </a:solidFill>
                <a:hlinkClick r:id="rId6"/>
              </a:rPr>
              <a:t> </a:t>
            </a:r>
            <a:br>
              <a:rPr lang="en-US" sz="1400" dirty="0">
                <a:solidFill>
                  <a:srgbClr val="6C757D"/>
                </a:solidFill>
                <a:hlinkClick r:id="rId6"/>
              </a:rPr>
            </a:br>
            <a:r>
              <a:rPr sz="1400" dirty="0">
                <a:solidFill>
                  <a:srgbClr val="6C757D"/>
                </a:solidFill>
                <a:hlinkClick r:id="rId6"/>
              </a:rPr>
              <a:t>github.blog/changelog/2026-05-20-updates-to-available-models-in-copilot-on-web/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agent-framework: Monty as </a:t>
            </a:r>
            <a:r>
              <a:rPr sz="1400" dirty="0" err="1">
                <a:solidFill>
                  <a:srgbClr val="1A1A1A"/>
                </a:solidFill>
              </a:rPr>
              <a:t>CodeAct</a:t>
            </a:r>
            <a:r>
              <a:rPr sz="1400" dirty="0">
                <a:solidFill>
                  <a:srgbClr val="1A1A1A"/>
                </a:solidFill>
              </a:rPr>
              <a:t> provider</a:t>
            </a:r>
            <a:r>
              <a:rPr sz="1400" dirty="0">
                <a:solidFill>
                  <a:srgbClr val="6C757D"/>
                </a:solidFill>
                <a:hlinkClick r:id="rId7"/>
              </a:rPr>
              <a:t>  github.com/microsoft/agent-framework/pull/5915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822960"/>
            <a:ext cx="4048878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1A7F37"/>
                </a:solidFill>
              </a:rPr>
              <a:t>🌐 Industry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Google Antigravity 2.0: IDE → agent orchestration</a:t>
            </a:r>
            <a:r>
              <a:rPr sz="1400" dirty="0">
                <a:solidFill>
                  <a:srgbClr val="6C757D"/>
                </a:solidFill>
                <a:hlinkClick r:id="rId8"/>
              </a:rPr>
              <a:t>  techcrunch.com/2026/05/19/google-launches-antigravity-2-0-with-an-updated-desktop-app-and-cli-tool-at-io-2026/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OpenAI Codex: now on mobile + Chrome extension</a:t>
            </a:r>
            <a:r>
              <a:rPr sz="1400" dirty="0">
                <a:solidFill>
                  <a:srgbClr val="6C757D"/>
                </a:solidFill>
                <a:hlinkClick r:id="rId9"/>
              </a:rPr>
              <a:t>  developers.openai.com/codex/app/chrome-extension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Anthropic Project </a:t>
            </a:r>
            <a:r>
              <a:rPr sz="1400" dirty="0" err="1">
                <a:solidFill>
                  <a:srgbClr val="1A1A1A"/>
                </a:solidFill>
              </a:rPr>
              <a:t>Glasswing</a:t>
            </a:r>
            <a:r>
              <a:rPr sz="1400" dirty="0">
                <a:solidFill>
                  <a:srgbClr val="1A1A1A"/>
                </a:solidFill>
              </a:rPr>
              <a:t>: Claude finds bugs</a:t>
            </a:r>
            <a:r>
              <a:rPr sz="1400" dirty="0">
                <a:solidFill>
                  <a:srgbClr val="6C757D"/>
                </a:solidFill>
                <a:hlinkClick r:id="rId10"/>
              </a:rPr>
              <a:t>  anthropic.com/research/glasswing-initial-update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MCP 2026-07-28 RC: now stateless, no session id</a:t>
            </a:r>
            <a:r>
              <a:rPr sz="1400" dirty="0">
                <a:solidFill>
                  <a:srgbClr val="6C757D"/>
                </a:solidFill>
                <a:hlinkClick r:id="rId11"/>
              </a:rPr>
              <a:t>  github.com/modelcontextprotocol/modelcontextprotocol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</a:t>
            </a:r>
            <a:r>
              <a:rPr sz="1400" dirty="0" err="1">
                <a:solidFill>
                  <a:srgbClr val="1A1A1A"/>
                </a:solidFill>
              </a:rPr>
              <a:t>WorkOS</a:t>
            </a:r>
            <a:r>
              <a:rPr sz="1400" dirty="0">
                <a:solidFill>
                  <a:srgbClr val="1A1A1A"/>
                </a:solidFill>
              </a:rPr>
              <a:t> </a:t>
            </a:r>
            <a:r>
              <a:rPr sz="1400" dirty="0" err="1">
                <a:solidFill>
                  <a:srgbClr val="1A1A1A"/>
                </a:solidFill>
              </a:rPr>
              <a:t>auth.md</a:t>
            </a:r>
            <a:r>
              <a:rPr sz="1400" dirty="0">
                <a:solidFill>
                  <a:srgbClr val="1A1A1A"/>
                </a:solidFill>
              </a:rPr>
              <a:t>: open agent registration protocol</a:t>
            </a:r>
            <a:r>
              <a:rPr sz="1400" dirty="0">
                <a:solidFill>
                  <a:srgbClr val="6C757D"/>
                </a:solidFill>
                <a:hlinkClick r:id="rId12"/>
              </a:rPr>
              <a:t>  workos.com/blog/agent-registration-with-auth-md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42251" y="822960"/>
            <a:ext cx="3657600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0D6EFD"/>
                </a:solidFill>
              </a:rPr>
              <a:t>👩‍💻 What I've Been Up To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Blog: </a:t>
            </a:r>
            <a:r>
              <a:rPr sz="1400" dirty="0" err="1">
                <a:solidFill>
                  <a:srgbClr val="1A1A1A"/>
                </a:solidFill>
              </a:rPr>
              <a:t>PyCon</a:t>
            </a:r>
            <a:r>
              <a:rPr sz="1400" dirty="0">
                <a:solidFill>
                  <a:srgbClr val="1A1A1A"/>
                </a:solidFill>
              </a:rPr>
              <a:t> US 2026 reflections</a:t>
            </a:r>
            <a:r>
              <a:rPr sz="1400" dirty="0">
                <a:solidFill>
                  <a:srgbClr val="6C757D"/>
                </a:solidFill>
                <a:hlinkClick r:id="rId13"/>
              </a:rPr>
              <a:t>  blog.pamelafox.org/2026/05/pycon-2026-reflections.html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Talk: AI-powered presentation workflow</a:t>
            </a:r>
            <a:r>
              <a:rPr sz="1400" dirty="0">
                <a:solidFill>
                  <a:srgbClr val="6C757D"/>
                </a:solidFill>
                <a:hlinkClick r:id="rId14"/>
              </a:rPr>
              <a:t>  pamelafox.github.io/ai-powered-presentation-workflow/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Tutorial slides: MCP server at </a:t>
            </a:r>
            <a:r>
              <a:rPr sz="1400" dirty="0" err="1">
                <a:solidFill>
                  <a:srgbClr val="1A1A1A"/>
                </a:solidFill>
              </a:rPr>
              <a:t>PyCon</a:t>
            </a:r>
            <a:r>
              <a:rPr sz="1400" dirty="0">
                <a:solidFill>
                  <a:srgbClr val="1A1A1A"/>
                </a:solidFill>
              </a:rPr>
              <a:t> 2026</a:t>
            </a:r>
            <a:r>
              <a:rPr sz="1400" dirty="0">
                <a:solidFill>
                  <a:srgbClr val="6C757D"/>
                </a:solidFill>
                <a:hlinkClick r:id="rId15"/>
              </a:rPr>
              <a:t>  pamelafox.github.io/pycon2026-mcp-tutorial/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Video: Claude Sonnet + agent-framework demo</a:t>
            </a:r>
            <a:r>
              <a:rPr sz="1400" dirty="0">
                <a:solidFill>
                  <a:srgbClr val="6C757D"/>
                </a:solidFill>
                <a:hlinkClick r:id="rId16"/>
              </a:rPr>
              <a:t>  youtube.com/watch?v=LYwV8IQVRIo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rgbClr val="1A1A1A"/>
                </a:solidFill>
              </a:rPr>
              <a:t>• Skill: GitHub MCP PR review comments</a:t>
            </a:r>
            <a:r>
              <a:rPr sz="1400" dirty="0">
                <a:solidFill>
                  <a:srgbClr val="6C757D"/>
                </a:solidFill>
                <a:hlinkClick r:id="rId17"/>
              </a:rPr>
              <a:t>  github.com/pamelafox/review-pr-comments</a:t>
            </a:r>
            <a:br>
              <a:rPr lang="en-US" sz="1400" dirty="0">
                <a:solidFill>
                  <a:srgbClr val="6C757D"/>
                </a:solidFill>
                <a:hlinkClick r:id="rId17"/>
              </a:rPr>
            </a:br>
            <a:r>
              <a:rPr lang="en-US" sz="1400" dirty="0">
                <a:solidFill>
                  <a:srgbClr val="1A1A1A"/>
                </a:solidFill>
              </a:rPr>
              <a:t>• Gmail MCP server</a:t>
            </a:r>
            <a:br>
              <a:rPr lang="en-US" sz="1400" dirty="0">
                <a:solidFill>
                  <a:srgbClr val="1A1A1A"/>
                </a:solidFill>
              </a:rPr>
            </a:br>
            <a:r>
              <a:rPr lang="en-US" sz="1400" dirty="0" err="1">
                <a:solidFill>
                  <a:srgbClr val="1A1A1A"/>
                </a:solidFill>
                <a:hlinkClick r:id="rId18"/>
              </a:rPr>
              <a:t>github.com</a:t>
            </a:r>
            <a:r>
              <a:rPr lang="en-US" sz="1400" dirty="0">
                <a:solidFill>
                  <a:srgbClr val="1A1A1A"/>
                </a:solidFill>
                <a:hlinkClick r:id="rId18"/>
              </a:rPr>
              <a:t>/</a:t>
            </a:r>
            <a:r>
              <a:rPr lang="en-US" sz="1400" dirty="0" err="1">
                <a:solidFill>
                  <a:srgbClr val="1A1A1A"/>
                </a:solidFill>
                <a:hlinkClick r:id="rId18"/>
              </a:rPr>
              <a:t>mattgotteiner</a:t>
            </a:r>
            <a:r>
              <a:rPr lang="en-US" sz="1400" dirty="0">
                <a:solidFill>
                  <a:srgbClr val="1A1A1A"/>
                </a:solidFill>
                <a:hlinkClick r:id="rId18"/>
              </a:rPr>
              <a:t>/</a:t>
            </a:r>
            <a:r>
              <a:rPr lang="en-US" sz="1400" dirty="0" err="1">
                <a:solidFill>
                  <a:srgbClr val="1A1A1A"/>
                </a:solidFill>
                <a:hlinkClick r:id="rId18"/>
              </a:rPr>
              <a:t>gmail</a:t>
            </a:r>
            <a:r>
              <a:rPr lang="en-US" sz="1400" dirty="0">
                <a:solidFill>
                  <a:srgbClr val="1A1A1A"/>
                </a:solidFill>
                <a:hlinkClick r:id="rId18"/>
              </a:rPr>
              <a:t>-local-</a:t>
            </a:r>
            <a:r>
              <a:rPr lang="en-US" sz="1400" dirty="0" err="1">
                <a:solidFill>
                  <a:srgbClr val="1A1A1A"/>
                </a:solidFill>
                <a:hlinkClick r:id="rId18"/>
              </a:rPr>
              <a:t>mcp</a:t>
            </a:r>
            <a:endParaRPr lang="en-US" sz="1400" dirty="0">
              <a:solidFill>
                <a:srgbClr val="6C757D"/>
              </a:solidFill>
              <a:hlinkClick r:id="rId17"/>
            </a:endParaRPr>
          </a:p>
          <a:p>
            <a:pPr>
              <a:spcAft>
                <a:spcPts val="300"/>
              </a:spcAft>
            </a:pPr>
            <a:endParaRPr sz="1400" dirty="0">
              <a:solidFill>
                <a:srgbClr val="6C757D"/>
              </a:solidFill>
              <a:hlinkClick r:id="rId17"/>
            </a:endParaRPr>
          </a:p>
          <a:p>
            <a:pPr>
              <a:spcAft>
                <a:spcPts val="200"/>
              </a:spcAft>
            </a:pPr>
            <a:endParaRPr sz="1400" dirty="0">
              <a:solidFill>
                <a:srgbClr val="1A1A1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18244-9B7D-BBDE-5ADB-F12BAFB73141}"/>
              </a:ext>
            </a:extLst>
          </p:cNvPr>
          <p:cNvSpPr txBox="1"/>
          <p:nvPr/>
        </p:nvSpPr>
        <p:spPr>
          <a:xfrm>
            <a:off x="4388588" y="4721204"/>
            <a:ext cx="7573040" cy="19210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800" b="1" dirty="0">
                <a:solidFill>
                  <a:srgbClr val="0D6EFD"/>
                </a:solidFill>
              </a:rPr>
              <a:t>📅 Upcoming events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1A1A1A"/>
                </a:solidFill>
              </a:rPr>
              <a:t>• Microsoft Build SF: Jun 2–3, 2026</a:t>
            </a:r>
            <a:r>
              <a:rPr lang="en-US" sz="1800" dirty="0">
                <a:solidFill>
                  <a:srgbClr val="6C757D"/>
                </a:solidFill>
                <a:hlinkClick r:id="rId19"/>
              </a:rPr>
              <a:t> </a:t>
            </a:r>
            <a:br>
              <a:rPr lang="en-US" sz="1800" dirty="0">
                <a:solidFill>
                  <a:srgbClr val="6C757D"/>
                </a:solidFill>
                <a:hlinkClick r:id="rId19"/>
              </a:rPr>
            </a:br>
            <a:r>
              <a:rPr lang="en-US" sz="1800" dirty="0">
                <a:solidFill>
                  <a:srgbClr val="6C757D"/>
                </a:solidFill>
                <a:hlinkClick r:id="rId19"/>
              </a:rPr>
              <a:t>build.microsoft.com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1A1A1A"/>
                </a:solidFill>
              </a:rPr>
              <a:t>• </a:t>
            </a:r>
            <a:r>
              <a:rPr lang="en-US" sz="1800" dirty="0" err="1">
                <a:solidFill>
                  <a:srgbClr val="1A1A1A"/>
                </a:solidFill>
              </a:rPr>
              <a:t>Posette</a:t>
            </a:r>
            <a:r>
              <a:rPr lang="en-US" sz="1800" dirty="0">
                <a:solidFill>
                  <a:srgbClr val="1A1A1A"/>
                </a:solidFill>
              </a:rPr>
              <a:t> (Virtual): Jun 16–18, 2026</a:t>
            </a:r>
            <a:r>
              <a:rPr lang="en-US" sz="1800" dirty="0">
                <a:solidFill>
                  <a:srgbClr val="6C757D"/>
                </a:solidFill>
                <a:hlinkClick r:id="rId20"/>
              </a:rPr>
              <a:t>  posetteconf.com/2026/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1A1A1A"/>
                </a:solidFill>
              </a:rPr>
              <a:t>• Agents League (Virtual): June 4-14)</a:t>
            </a:r>
          </a:p>
          <a:p>
            <a:pPr>
              <a:spcAft>
                <a:spcPts val="300"/>
              </a:spcAft>
            </a:pPr>
            <a:r>
              <a:rPr lang="en-US" sz="1800" dirty="0">
                <a:solidFill>
                  <a:srgbClr val="6C757D"/>
                </a:solidFill>
                <a:hlinkClick r:id="rId21"/>
              </a:rPr>
              <a:t>info.microsoft.com/Agents-League-Hackathon-Registration.html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1B70AB-76AC-0489-E675-36F3AC1308EF}"/>
              </a:ext>
            </a:extLst>
          </p:cNvPr>
          <p:cNvSpPr txBox="1"/>
          <p:nvPr/>
        </p:nvSpPr>
        <p:spPr>
          <a:xfrm>
            <a:off x="695915" y="1490386"/>
            <a:ext cx="3271205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/>
              <a:t>🏢 Microsoft / GitHub</a:t>
            </a:r>
          </a:p>
          <a:p>
            <a:pPr>
              <a:spcAft>
                <a:spcPts val="400"/>
              </a:spcAft>
            </a:pPr>
            <a:endParaRPr lang="en-US" b="1" dirty="0"/>
          </a:p>
          <a:p>
            <a:pPr>
              <a:spcAft>
                <a:spcPts val="400"/>
              </a:spcAft>
            </a:pPr>
            <a:r>
              <a:rPr lang="en-US" b="1" dirty="0"/>
              <a:t>VS Code + GitHub Copilot Chat</a:t>
            </a:r>
          </a:p>
          <a:p>
            <a:pPr>
              <a:spcAft>
                <a:spcPts val="400"/>
              </a:spcAft>
            </a:pPr>
            <a:r>
              <a:rPr lang="en-US" b="1" dirty="0"/>
              <a:t>VS Code Agents window</a:t>
            </a:r>
          </a:p>
          <a:p>
            <a:pPr>
              <a:spcAft>
                <a:spcPts val="400"/>
              </a:spcAft>
            </a:pPr>
            <a:r>
              <a:rPr lang="en-US" b="1" dirty="0"/>
              <a:t>GitHub Copilot Desktop App</a:t>
            </a:r>
          </a:p>
          <a:p>
            <a:pPr>
              <a:spcAft>
                <a:spcPts val="400"/>
              </a:spcAft>
            </a:pPr>
            <a:r>
              <a:rPr lang="en-US" b="1" dirty="0"/>
              <a:t>GitHub Copilot CLI</a:t>
            </a:r>
          </a:p>
          <a:p>
            <a:pPr>
              <a:spcAft>
                <a:spcPts val="400"/>
              </a:spcAft>
            </a:pPr>
            <a:r>
              <a:rPr lang="en-US" b="1" dirty="0"/>
              <a:t>GitHub Copilot Cloud Agent</a:t>
            </a:r>
          </a:p>
          <a:p>
            <a:pPr>
              <a:spcAft>
                <a:spcPts val="400"/>
              </a:spcAft>
            </a:pPr>
            <a:endParaRPr lang="en-US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3089E2-69CF-8741-83A9-638ADB0A19C0}"/>
              </a:ext>
            </a:extLst>
          </p:cNvPr>
          <p:cNvCxnSpPr/>
          <p:nvPr/>
        </p:nvCxnSpPr>
        <p:spPr>
          <a:xfrm>
            <a:off x="695915" y="2217218"/>
            <a:ext cx="0" cy="16264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43A6B16-DCBA-19FF-75DC-803AE5D6AB05}"/>
              </a:ext>
            </a:extLst>
          </p:cNvPr>
          <p:cNvSpPr txBox="1"/>
          <p:nvPr/>
        </p:nvSpPr>
        <p:spPr>
          <a:xfrm>
            <a:off x="-267037" y="1715092"/>
            <a:ext cx="962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High code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C3B96-4FCF-6A24-EF19-9AE0AC66CF40}"/>
              </a:ext>
            </a:extLst>
          </p:cNvPr>
          <p:cNvSpPr txBox="1"/>
          <p:nvPr/>
        </p:nvSpPr>
        <p:spPr>
          <a:xfrm>
            <a:off x="-267037" y="3514844"/>
            <a:ext cx="9629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Low code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ABD88-F047-E958-4E6F-411806F66C9B}"/>
              </a:ext>
            </a:extLst>
          </p:cNvPr>
          <p:cNvSpPr txBox="1"/>
          <p:nvPr/>
        </p:nvSpPr>
        <p:spPr>
          <a:xfrm>
            <a:off x="3721324" y="1490386"/>
            <a:ext cx="3188262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/>
              <a:t>🏢 Google</a:t>
            </a:r>
          </a:p>
          <a:p>
            <a:pPr>
              <a:spcAft>
                <a:spcPts val="400"/>
              </a:spcAft>
            </a:pPr>
            <a:endParaRPr lang="en-US" b="1" dirty="0"/>
          </a:p>
          <a:p>
            <a:pPr>
              <a:spcAft>
                <a:spcPts val="400"/>
              </a:spcAft>
            </a:pPr>
            <a:r>
              <a:rPr lang="en-US" b="1" dirty="0"/>
              <a:t>Antigravity IDE</a:t>
            </a:r>
          </a:p>
          <a:p>
            <a:pPr>
              <a:spcAft>
                <a:spcPts val="400"/>
              </a:spcAft>
            </a:pPr>
            <a:r>
              <a:rPr lang="en-US" b="1" dirty="0"/>
              <a:t>Antigravity IDE Agent Manager</a:t>
            </a:r>
          </a:p>
          <a:p>
            <a:pPr>
              <a:spcAft>
                <a:spcPts val="400"/>
              </a:spcAft>
            </a:pPr>
            <a:r>
              <a:rPr lang="en-US" b="1" dirty="0"/>
              <a:t>Antigravity 2.0</a:t>
            </a:r>
          </a:p>
          <a:p>
            <a:pPr>
              <a:spcAft>
                <a:spcPts val="400"/>
              </a:spcAft>
            </a:pPr>
            <a:r>
              <a:rPr lang="en-US" b="1" dirty="0"/>
              <a:t>Antigravity CLI</a:t>
            </a:r>
          </a:p>
          <a:p>
            <a:pPr>
              <a:spcAft>
                <a:spcPts val="400"/>
              </a:spcAft>
            </a:pPr>
            <a:r>
              <a:rPr lang="en-US" b="1" dirty="0"/>
              <a:t>?</a:t>
            </a:r>
          </a:p>
          <a:p>
            <a:pPr>
              <a:spcAft>
                <a:spcPts val="400"/>
              </a:spcAft>
            </a:pP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71D67F-45BB-568B-8468-466549610089}"/>
              </a:ext>
            </a:extLst>
          </p:cNvPr>
          <p:cNvSpPr txBox="1"/>
          <p:nvPr/>
        </p:nvSpPr>
        <p:spPr>
          <a:xfrm>
            <a:off x="6808096" y="1490386"/>
            <a:ext cx="3126898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/>
              <a:t>🏢 Claude Code</a:t>
            </a:r>
          </a:p>
          <a:p>
            <a:pPr>
              <a:spcAft>
                <a:spcPts val="400"/>
              </a:spcAft>
            </a:pPr>
            <a:endParaRPr lang="en-US" b="1" dirty="0"/>
          </a:p>
          <a:p>
            <a:pPr>
              <a:spcAft>
                <a:spcPts val="400"/>
              </a:spcAft>
            </a:pPr>
            <a:r>
              <a:rPr lang="en-US" b="1" dirty="0"/>
              <a:t>VS Code + Claude Extension</a:t>
            </a:r>
          </a:p>
          <a:p>
            <a:pPr>
              <a:spcAft>
                <a:spcPts val="400"/>
              </a:spcAft>
            </a:pPr>
            <a:r>
              <a:rPr lang="en-US" b="1" dirty="0"/>
              <a:t>?</a:t>
            </a:r>
          </a:p>
          <a:p>
            <a:pPr>
              <a:spcAft>
                <a:spcPts val="400"/>
              </a:spcAft>
            </a:pPr>
            <a:r>
              <a:rPr lang="en-US" b="1" dirty="0"/>
              <a:t>Claude Code Desktop App</a:t>
            </a:r>
          </a:p>
          <a:p>
            <a:pPr>
              <a:spcAft>
                <a:spcPts val="400"/>
              </a:spcAft>
            </a:pPr>
            <a:r>
              <a:rPr lang="en-US" b="1" dirty="0"/>
              <a:t>Claude Code CLI</a:t>
            </a:r>
          </a:p>
          <a:p>
            <a:pPr>
              <a:spcAft>
                <a:spcPts val="400"/>
              </a:spcAft>
            </a:pPr>
            <a:r>
              <a:rPr lang="en-US" b="1" dirty="0"/>
              <a:t>Claude GitHub App</a:t>
            </a:r>
          </a:p>
          <a:p>
            <a:pPr>
              <a:spcAft>
                <a:spcPts val="400"/>
              </a:spcAft>
            </a:pP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031D5-0816-EBB8-7E05-DB4A1001E90B}"/>
              </a:ext>
            </a:extLst>
          </p:cNvPr>
          <p:cNvSpPr txBox="1"/>
          <p:nvPr/>
        </p:nvSpPr>
        <p:spPr>
          <a:xfrm>
            <a:off x="9581982" y="1490385"/>
            <a:ext cx="1609303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/>
              <a:t>🏢 OpenAI</a:t>
            </a:r>
          </a:p>
          <a:p>
            <a:pPr>
              <a:spcAft>
                <a:spcPts val="400"/>
              </a:spcAft>
            </a:pPr>
            <a:endParaRPr lang="en-US" b="1" dirty="0"/>
          </a:p>
          <a:p>
            <a:pPr>
              <a:spcAft>
                <a:spcPts val="400"/>
              </a:spcAft>
            </a:pPr>
            <a:r>
              <a:rPr lang="en-US" b="1" dirty="0"/>
              <a:t>-</a:t>
            </a:r>
          </a:p>
          <a:p>
            <a:pPr>
              <a:spcAft>
                <a:spcPts val="400"/>
              </a:spcAft>
            </a:pPr>
            <a:r>
              <a:rPr lang="en-US" b="1" dirty="0"/>
              <a:t>-</a:t>
            </a:r>
          </a:p>
          <a:p>
            <a:pPr>
              <a:spcAft>
                <a:spcPts val="400"/>
              </a:spcAft>
            </a:pPr>
            <a:r>
              <a:rPr lang="en-US" b="1" dirty="0"/>
              <a:t>Codex Desktop</a:t>
            </a:r>
          </a:p>
          <a:p>
            <a:pPr>
              <a:spcAft>
                <a:spcPts val="400"/>
              </a:spcAft>
            </a:pPr>
            <a:r>
              <a:rPr lang="en-US" b="1" dirty="0"/>
              <a:t>Codex CLI</a:t>
            </a:r>
          </a:p>
          <a:p>
            <a:pPr>
              <a:spcAft>
                <a:spcPts val="400"/>
              </a:spcAft>
            </a:pPr>
            <a:r>
              <a:rPr lang="en-US" b="1" dirty="0"/>
              <a:t>-</a:t>
            </a:r>
          </a:p>
          <a:p>
            <a:pPr>
              <a:spcAft>
                <a:spcPts val="400"/>
              </a:spcAft>
            </a:pP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D0D549-8D1C-6EE4-CF99-6BD6B2627AFA}"/>
              </a:ext>
            </a:extLst>
          </p:cNvPr>
          <p:cNvSpPr txBox="1"/>
          <p:nvPr/>
        </p:nvSpPr>
        <p:spPr>
          <a:xfrm>
            <a:off x="11166667" y="1490384"/>
            <a:ext cx="1609303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b="1" dirty="0" err="1"/>
              <a:t>OpenCode</a:t>
            </a:r>
            <a:endParaRPr lang="en-US" b="1" dirty="0"/>
          </a:p>
          <a:p>
            <a:pPr>
              <a:spcAft>
                <a:spcPts val="400"/>
              </a:spcAft>
            </a:pPr>
            <a:endParaRPr lang="en-US" b="1" dirty="0"/>
          </a:p>
          <a:p>
            <a:pPr>
              <a:spcAft>
                <a:spcPts val="400"/>
              </a:spcAft>
            </a:pPr>
            <a:r>
              <a:rPr lang="en-US" b="1" dirty="0"/>
              <a:t>-</a:t>
            </a:r>
          </a:p>
          <a:p>
            <a:pPr>
              <a:spcAft>
                <a:spcPts val="400"/>
              </a:spcAft>
            </a:pPr>
            <a:r>
              <a:rPr lang="en-US" b="1" dirty="0"/>
              <a:t>-</a:t>
            </a:r>
          </a:p>
          <a:p>
            <a:pPr>
              <a:spcAft>
                <a:spcPts val="400"/>
              </a:spcAft>
            </a:pPr>
            <a:r>
              <a:rPr lang="en-US" b="1" dirty="0" err="1"/>
              <a:t>OpenCode</a:t>
            </a:r>
            <a:r>
              <a:rPr lang="en-US" b="1" dirty="0"/>
              <a:t> </a:t>
            </a:r>
          </a:p>
          <a:p>
            <a:pPr>
              <a:spcAft>
                <a:spcPts val="400"/>
              </a:spcAft>
            </a:pPr>
            <a:r>
              <a:rPr lang="en-US" b="1" dirty="0" err="1"/>
              <a:t>OpenCode</a:t>
            </a:r>
            <a:endParaRPr lang="en-US" b="1" dirty="0"/>
          </a:p>
          <a:p>
            <a:pPr>
              <a:spcAft>
                <a:spcPts val="400"/>
              </a:spcAft>
            </a:pPr>
            <a:r>
              <a:rPr lang="en-US" b="1" dirty="0"/>
              <a:t>-</a:t>
            </a:r>
          </a:p>
          <a:p>
            <a:pPr>
              <a:spcAft>
                <a:spcPts val="400"/>
              </a:spcAf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99349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ubes on a white background&#10;&#10;AI-generated content may be incorrect.">
            <a:extLst>
              <a:ext uri="{FF2B5EF4-FFF2-40B4-BE49-F238E27FC236}">
                <a16:creationId xmlns:a16="http://schemas.microsoft.com/office/drawing/2014/main" id="{147F527B-E081-7E71-E71B-35CCDDE87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28" y="272834"/>
            <a:ext cx="6186308" cy="618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8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488</Words>
  <Application>Microsoft Macintosh PowerPoint</Application>
  <PresentationFormat>Widescreen</PresentationFormat>
  <Paragraphs>67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Fox</cp:lastModifiedBy>
  <cp:revision>4</cp:revision>
  <dcterms:created xsi:type="dcterms:W3CDTF">2013-01-27T09:14:16Z</dcterms:created>
  <dcterms:modified xsi:type="dcterms:W3CDTF">2026-05-27T05:26:25Z</dcterms:modified>
  <cp:category/>
</cp:coreProperties>
</file>