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0" d="100"/>
          <a:sy n="140" d="100"/>
        </p:scale>
        <p:origin x="112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B5ED7"/>
                </a:solidFill>
              </a:rPr>
              <a:t>🐍 Python + AI Office Hours — Weekly News Roundup — April 20,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59" y="822960"/>
            <a:ext cx="10564999" cy="241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/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6F2DA8"/>
                </a:solidFill>
              </a:rPr>
              <a:t>🏢 Microsoft / GitHub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1A1A1A"/>
                </a:solidFill>
              </a:rPr>
              <a:t>• </a:t>
            </a:r>
            <a:r>
              <a:rPr lang="en-US" sz="2000">
                <a:solidFill>
                  <a:srgbClr val="1A1A1A"/>
                </a:solidFill>
              </a:rPr>
              <a:t>GitHub Copilot pricing plans: </a:t>
            </a:r>
            <a:r>
              <a:rPr lang="en-US" sz="1600">
                <a:solidFill>
                  <a:srgbClr val="1A1A1A"/>
                </a:solidFill>
              </a:rPr>
              <a:t>github.blog/changelog/2026-04-20-changes-to-github-copilot-plans-for-individuals</a:t>
            </a:r>
            <a:br>
              <a:rPr lang="en-US" sz="2000">
                <a:solidFill>
                  <a:srgbClr val="1A1A1A"/>
                </a:solidFill>
              </a:rPr>
            </a:br>
            <a:r>
              <a:rPr lang="en-US" sz="2000">
                <a:solidFill>
                  <a:srgbClr val="1A1A1A"/>
                </a:solidFill>
              </a:rPr>
              <a:t>•  </a:t>
            </a:r>
            <a:r>
              <a:rPr sz="2000">
                <a:solidFill>
                  <a:srgbClr val="1A1A1A"/>
                </a:solidFill>
              </a:rPr>
              <a:t>VS Code 1.116: Copilot now built-in</a:t>
            </a:r>
            <a:r>
              <a:rPr sz="2000">
                <a:solidFill>
                  <a:srgbClr val="6C757D"/>
                </a:solidFill>
              </a:rPr>
              <a:t>  code.visualstudio.com/updates/v1_116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1A1A1A"/>
                </a:solidFill>
              </a:rPr>
              <a:t>• Claude Opus 4.7 GA in GitHub Copilot</a:t>
            </a:r>
            <a:r>
              <a:rPr sz="2000">
                <a:solidFill>
                  <a:srgbClr val="6C757D"/>
                </a:solidFill>
              </a:rPr>
              <a:t>  code.visualstudio.com/updates/v1_116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1A1A1A"/>
                </a:solidFill>
              </a:rPr>
              <a:t>• Copilot CLI: thinking effort config</a:t>
            </a:r>
            <a:r>
              <a:rPr sz="2000">
                <a:solidFill>
                  <a:srgbClr val="6C757D"/>
                </a:solidFill>
              </a:rPr>
              <a:t>  code.visualstudio.com/updates/v1_116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1A1A1A"/>
                </a:solidFill>
              </a:rPr>
              <a:t>• Agent Host Protocol: subagents &amp; teams</a:t>
            </a:r>
            <a:r>
              <a:rPr sz="2000">
                <a:solidFill>
                  <a:srgbClr val="6C757D"/>
                </a:solidFill>
              </a:rPr>
              <a:t>  code.visualstudio.com/updates/v1_116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0746" y="3375339"/>
            <a:ext cx="7288400" cy="325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/>
          </a:p>
          <a:p>
            <a:pPr>
              <a:spcAft>
                <a:spcPts val="400"/>
              </a:spcAft>
            </a:pPr>
            <a:r>
              <a:rPr lang="en-US" sz="1600" b="1">
                <a:solidFill>
                  <a:srgbClr val="0D6EFD"/>
                </a:solidFill>
              </a:rPr>
              <a:t>👩‍💻 What I've Been Up To</a:t>
            </a:r>
          </a:p>
          <a:p>
            <a:pPr>
              <a:spcAft>
                <a:spcPts val="300"/>
              </a:spcAft>
            </a:pPr>
            <a:r>
              <a:rPr lang="en-US" sz="1600">
                <a:solidFill>
                  <a:srgbClr val="1A1A1A"/>
                </a:solidFill>
              </a:rPr>
              <a:t>• Foundry Hosted Agent Framework demo</a:t>
            </a:r>
            <a:r>
              <a:rPr lang="en-US" sz="1600">
                <a:solidFill>
                  <a:srgbClr val="6C757D"/>
                </a:solidFill>
              </a:rPr>
              <a:t>  </a:t>
            </a:r>
            <a:br>
              <a:rPr lang="en-US" sz="1600">
                <a:solidFill>
                  <a:srgbClr val="6C757D"/>
                </a:solidFill>
              </a:rPr>
            </a:br>
            <a:r>
              <a:rPr lang="en-US" sz="1600">
                <a:solidFill>
                  <a:srgbClr val="6C757D"/>
                </a:solidFill>
              </a:rPr>
              <a:t> github.com/pamelafox/foundry-hosted-agentframework-demo</a:t>
            </a:r>
          </a:p>
          <a:p>
            <a:pPr>
              <a:spcAft>
                <a:spcPts val="300"/>
              </a:spcAft>
            </a:pPr>
            <a:r>
              <a:rPr lang="en-US" sz="1600">
                <a:solidFill>
                  <a:srgbClr val="1A1A1A"/>
                </a:solidFill>
              </a:rPr>
              <a:t>• Foundry Agent Anthropic demo</a:t>
            </a:r>
            <a:r>
              <a:rPr lang="en-US" sz="1600">
                <a:solidFill>
                  <a:srgbClr val="6C757D"/>
                </a:solidFill>
              </a:rPr>
              <a:t>  </a:t>
            </a:r>
            <a:br>
              <a:rPr lang="en-US" sz="1600">
                <a:solidFill>
                  <a:srgbClr val="6C757D"/>
                </a:solidFill>
              </a:rPr>
            </a:br>
            <a:r>
              <a:rPr lang="en-US" sz="1600">
                <a:solidFill>
                  <a:srgbClr val="6C757D"/>
                </a:solidFill>
              </a:rPr>
              <a:t> github.com/pamelafox/python-foundryagent-anthropic-demo</a:t>
            </a:r>
          </a:p>
          <a:p>
            <a:pPr>
              <a:spcAft>
                <a:spcPts val="300"/>
              </a:spcAft>
            </a:pPr>
            <a:r>
              <a:rPr lang="en-US" sz="1600">
                <a:solidFill>
                  <a:srgbClr val="1A1A1A"/>
                </a:solidFill>
              </a:rPr>
              <a:t>• PyCon 2026 MCP tutorial progress</a:t>
            </a:r>
            <a:r>
              <a:rPr lang="en-US" sz="1600">
                <a:solidFill>
                  <a:srgbClr val="6C757D"/>
                </a:solidFill>
              </a:rPr>
              <a:t>  </a:t>
            </a:r>
            <a:br>
              <a:rPr lang="en-US" sz="1600">
                <a:solidFill>
                  <a:srgbClr val="6C757D"/>
                </a:solidFill>
              </a:rPr>
            </a:br>
            <a:r>
              <a:rPr lang="en-US" sz="1600">
                <a:solidFill>
                  <a:srgbClr val="6C757D"/>
                </a:solidFill>
              </a:rPr>
              <a:t> github.com/pamelafox/pycon2026-mcp-tutorial</a:t>
            </a:r>
          </a:p>
          <a:p>
            <a:pPr>
              <a:spcAft>
                <a:spcPts val="300"/>
              </a:spcAft>
            </a:pPr>
            <a:r>
              <a:rPr lang="en-US" sz="1600">
                <a:solidFill>
                  <a:srgbClr val="1A1A1A"/>
                </a:solidFill>
              </a:rPr>
              <a:t>• MCP for Postgres DB demo </a:t>
            </a:r>
            <a:br>
              <a:rPr lang="en-US" sz="1600">
                <a:solidFill>
                  <a:srgbClr val="1A1A1A"/>
                </a:solidFill>
              </a:rPr>
            </a:br>
            <a:r>
              <a:rPr lang="en-US" sz="1600">
                <a:solidFill>
                  <a:srgbClr val="1A1A1A"/>
                </a:solidFill>
              </a:rPr>
              <a:t> </a:t>
            </a:r>
            <a:r>
              <a:rPr lang="en-US" sz="1600">
                <a:solidFill>
                  <a:srgbClr val="6C757D"/>
                </a:solidFill>
              </a:rPr>
              <a:t>github.com/pamelafox/mcp-for-postgres-db-demo</a:t>
            </a:r>
          </a:p>
          <a:p>
            <a:pPr>
              <a:spcAft>
                <a:spcPts val="300"/>
              </a:spcAft>
            </a:pPr>
            <a:r>
              <a:rPr lang="en-US" sz="1600">
                <a:solidFill>
                  <a:srgbClr val="1A1A1A"/>
                </a:solidFill>
              </a:rPr>
              <a:t>• RAG demo: active PRs &amp; maintenance</a:t>
            </a:r>
            <a:r>
              <a:rPr lang="en-US" sz="1600">
                <a:solidFill>
                  <a:srgbClr val="6C757D"/>
                </a:solidFill>
              </a:rPr>
              <a:t>  </a:t>
            </a:r>
            <a:br>
              <a:rPr lang="en-US" sz="1600">
                <a:solidFill>
                  <a:srgbClr val="6C757D"/>
                </a:solidFill>
              </a:rPr>
            </a:br>
            <a:r>
              <a:rPr lang="en-US" sz="1600">
                <a:solidFill>
                  <a:srgbClr val="6C757D"/>
                </a:solidFill>
              </a:rPr>
              <a:t> github.com/Azure-Samples/azure-search-openai-demo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ECB47-94F5-08FC-1F76-04B8C020196F}"/>
              </a:ext>
            </a:extLst>
          </p:cNvPr>
          <p:cNvSpPr txBox="1"/>
          <p:nvPr/>
        </p:nvSpPr>
        <p:spPr>
          <a:xfrm>
            <a:off x="459301" y="3621560"/>
            <a:ext cx="5547887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E36209"/>
                </a:solidFill>
              </a:rPr>
              <a:t>📅 Upcoming Events</a:t>
            </a:r>
            <a:br>
              <a:rPr lang="en-US" sz="1500">
                <a:solidFill>
                  <a:srgbClr val="1A1A1A"/>
                </a:solidFill>
              </a:rPr>
            </a:br>
            <a:r>
              <a:rPr lang="en-US" sz="1500">
                <a:solidFill>
                  <a:srgbClr val="1A1A1A"/>
                </a:solidFill>
              </a:rPr>
              <a:t>• Host your agents on Foundry (Online): Apr 27-30</a:t>
            </a:r>
            <a:r>
              <a:rPr lang="en-US" sz="1500">
                <a:solidFill>
                  <a:srgbClr val="6C757D"/>
                </a:solidFill>
              </a:rPr>
              <a:t>  </a:t>
            </a:r>
            <a:br>
              <a:rPr lang="en-US" sz="1500">
                <a:solidFill>
                  <a:srgbClr val="6C757D"/>
                </a:solidFill>
              </a:rPr>
            </a:br>
            <a:r>
              <a:rPr lang="en-US" sz="1500">
                <a:solidFill>
                  <a:srgbClr val="6C757D"/>
                </a:solidFill>
              </a:rPr>
              <a:t> https://aka.ms/AgentsOnFoundry/series</a:t>
            </a:r>
          </a:p>
          <a:p>
            <a:pPr>
              <a:spcAft>
                <a:spcPts val="300"/>
              </a:spcAft>
            </a:pPr>
            <a:r>
              <a:rPr lang="en-US" sz="1500">
                <a:solidFill>
                  <a:srgbClr val="1A1A1A"/>
                </a:solidFill>
              </a:rPr>
              <a:t>• Azure Cosmos DB Conf (Online): April 28</a:t>
            </a:r>
            <a:br>
              <a:rPr lang="en-US" sz="1500">
                <a:solidFill>
                  <a:srgbClr val="1A1A1A"/>
                </a:solidFill>
              </a:rPr>
            </a:br>
            <a:r>
              <a:rPr lang="en-US" sz="1500">
                <a:solidFill>
                  <a:srgbClr val="1A1A1A"/>
                </a:solidFill>
              </a:rPr>
              <a:t> </a:t>
            </a:r>
            <a:r>
              <a:rPr lang="en-US" sz="1500">
                <a:solidFill>
                  <a:schemeClr val="bg1">
                    <a:lumMod val="50000"/>
                  </a:schemeClr>
                </a:solidFill>
              </a:rPr>
              <a:t>developer.azurecosmosdb.com/conf/</a:t>
            </a:r>
            <a:br>
              <a:rPr lang="en-US" sz="1500">
                <a:solidFill>
                  <a:srgbClr val="1A1A1A"/>
                </a:solidFill>
              </a:rPr>
            </a:br>
            <a:r>
              <a:rPr sz="1500">
                <a:solidFill>
                  <a:srgbClr val="1A1A1A"/>
                </a:solidFill>
              </a:rPr>
              <a:t>• AgentCon </a:t>
            </a:r>
            <a:r>
              <a:rPr lang="en-US" sz="1500">
                <a:solidFill>
                  <a:srgbClr val="1A1A1A"/>
                </a:solidFill>
              </a:rPr>
              <a:t>(</a:t>
            </a:r>
            <a:r>
              <a:rPr sz="1500">
                <a:solidFill>
                  <a:srgbClr val="1A1A1A"/>
                </a:solidFill>
              </a:rPr>
              <a:t>Silicon Valley</a:t>
            </a:r>
            <a:r>
              <a:rPr lang="en-US" sz="1500">
                <a:solidFill>
                  <a:srgbClr val="1A1A1A"/>
                </a:solidFill>
              </a:rPr>
              <a:t>): </a:t>
            </a:r>
            <a:r>
              <a:rPr sz="1500">
                <a:solidFill>
                  <a:srgbClr val="1A1A1A"/>
                </a:solidFill>
              </a:rPr>
              <a:t>May 4</a:t>
            </a:r>
            <a:r>
              <a:rPr sz="1500">
                <a:solidFill>
                  <a:srgbClr val="6C757D"/>
                </a:solidFill>
              </a:rPr>
              <a:t>  </a:t>
            </a:r>
            <a:br>
              <a:rPr lang="en-US" sz="1500">
                <a:solidFill>
                  <a:srgbClr val="6C757D"/>
                </a:solidFill>
              </a:rPr>
            </a:br>
            <a:r>
              <a:rPr lang="en-US" sz="1500">
                <a:solidFill>
                  <a:srgbClr val="6C757D"/>
                </a:solidFill>
              </a:rPr>
              <a:t> </a:t>
            </a:r>
            <a:r>
              <a:rPr sz="1500">
                <a:solidFill>
                  <a:srgbClr val="6C757D"/>
                </a:solidFill>
              </a:rPr>
              <a:t>agentcon.city/silicon-valley</a:t>
            </a:r>
            <a:endParaRPr lang="en-US" sz="150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PyCon US (Long Beach)</a:t>
            </a:r>
            <a:r>
              <a:rPr lang="en-US" sz="1500">
                <a:solidFill>
                  <a:srgbClr val="1A1A1A"/>
                </a:solidFill>
              </a:rPr>
              <a:t>:</a:t>
            </a:r>
            <a:r>
              <a:rPr sz="1500">
                <a:solidFill>
                  <a:srgbClr val="1A1A1A"/>
                </a:solidFill>
              </a:rPr>
              <a:t> May 13-19</a:t>
            </a:r>
            <a:br>
              <a:rPr lang="en-US" sz="1500">
                <a:solidFill>
                  <a:srgbClr val="6C757D"/>
                </a:solidFill>
              </a:rPr>
            </a:br>
            <a:r>
              <a:rPr lang="en-US" sz="1500">
                <a:solidFill>
                  <a:srgbClr val="6C757D"/>
                </a:solidFill>
              </a:rPr>
              <a:t> </a:t>
            </a:r>
            <a:r>
              <a:rPr sz="1500">
                <a:solidFill>
                  <a:srgbClr val="6C757D"/>
                </a:solidFill>
              </a:rPr>
              <a:t>us.pycon.org/2026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</a:rPr>
              <a:t>• </a:t>
            </a:r>
            <a:r>
              <a:rPr lang="en-US" sz="1500">
                <a:solidFill>
                  <a:srgbClr val="1A1A1A"/>
                </a:solidFill>
              </a:rPr>
              <a:t>Microsoft Build (SF): </a:t>
            </a:r>
            <a:r>
              <a:rPr sz="1500">
                <a:solidFill>
                  <a:srgbClr val="1A1A1A"/>
                </a:solidFill>
              </a:rPr>
              <a:t>June</a:t>
            </a:r>
            <a:r>
              <a:rPr lang="en-US" sz="1500">
                <a:solidFill>
                  <a:srgbClr val="1A1A1A"/>
                </a:solidFill>
              </a:rPr>
              <a:t> 2-3</a:t>
            </a:r>
            <a:br>
              <a:rPr lang="en-US" sz="1500">
                <a:solidFill>
                  <a:srgbClr val="6C757D"/>
                </a:solidFill>
              </a:rPr>
            </a:br>
            <a:r>
              <a:rPr lang="en-US" sz="1500">
                <a:solidFill>
                  <a:srgbClr val="6C757D"/>
                </a:solidFill>
              </a:rPr>
              <a:t> aka.ms/MS_Build_26_DAC26</a:t>
            </a:r>
            <a:endParaRPr sz="1500">
              <a:solidFill>
                <a:srgbClr val="6C757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284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Pamela Fox</cp:lastModifiedBy>
  <cp:revision>2</cp:revision>
  <dcterms:created xsi:type="dcterms:W3CDTF">2013-01-27T09:14:16Z</dcterms:created>
  <dcterms:modified xsi:type="dcterms:W3CDTF">2026-04-21T19:28:41Z</dcterms:modified>
  <cp:category/>
</cp:coreProperties>
</file>