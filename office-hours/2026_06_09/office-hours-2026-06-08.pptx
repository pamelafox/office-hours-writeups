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5"/>
  </p:normalViewPr>
  <p:slideViewPr>
    <p:cSldViewPr snapToGrid="0" snapToObjects="1">
      <p:cViewPr varScale="1">
        <p:scale>
          <a:sx n="158" d="100"/>
          <a:sy n="158" d="100"/>
        </p:scale>
        <p:origin x="6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forbes.com/sites/janakirammsv/2026/06/09/microsoft-makes-governance-the-gate-for-enterprise-ai-agents/" TargetMode="External"/><Relationship Id="rId13" Type="http://schemas.openxmlformats.org/officeDocument/2006/relationships/hyperlink" Target="https://arxiv.org/abs/2605.23904" TargetMode="External"/><Relationship Id="rId18" Type="http://schemas.openxmlformats.org/officeDocument/2006/relationships/hyperlink" Target="https://2026.djangocon.us" TargetMode="External"/><Relationship Id="rId3" Type="http://schemas.openxmlformats.org/officeDocument/2006/relationships/hyperlink" Target="https://devblogs.microsoft.com/foundry/whats-new-in-microsoft-foundry-build-2026/" TargetMode="External"/><Relationship Id="rId7" Type="http://schemas.openxmlformats.org/officeDocument/2006/relationships/hyperlink" Target="https://github.blog/changelog/2026-06-01-updates-to-github-copilot-billing-and-plans/" TargetMode="External"/><Relationship Id="rId12" Type="http://schemas.openxmlformats.org/officeDocument/2006/relationships/hyperlink" Target="https://platform.claude.com/docs/en/build-with-claude/mid-conversation-effort-example" TargetMode="External"/><Relationship Id="rId17" Type="http://schemas.openxmlformats.org/officeDocument/2006/relationships/hyperlink" Target="https://ai.engineer/worldsfair" TargetMode="External"/><Relationship Id="rId2" Type="http://schemas.openxmlformats.org/officeDocument/2006/relationships/hyperlink" Target="https://github.com/matthansen0/matts-build-2026-list" TargetMode="External"/><Relationship Id="rId16" Type="http://schemas.openxmlformats.org/officeDocument/2006/relationships/hyperlink" Target="https://posetteconf.com/2026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blog/changelog/2026-06-03-github-copilot-in-visual-studio-code-may-releases/" TargetMode="External"/><Relationship Id="rId11" Type="http://schemas.openxmlformats.org/officeDocument/2006/relationships/hyperlink" Target="https://newsletter.pragmaticengineer.com/p/ideas-slow-down-to-speed-up-when" TargetMode="External"/><Relationship Id="rId5" Type="http://schemas.openxmlformats.org/officeDocument/2006/relationships/hyperlink" Target="https://code.visualstudio.com/updates/v1_123" TargetMode="External"/><Relationship Id="rId15" Type="http://schemas.openxmlformats.org/officeDocument/2006/relationships/hyperlink" Target="https://maven.com/p/d665de/mcp-cli-agent-skill-or-custom-tool" TargetMode="External"/><Relationship Id="rId10" Type="http://schemas.openxmlformats.org/officeDocument/2006/relationships/hyperlink" Target="https://anthropic.com/news/claude-opus-4-8" TargetMode="External"/><Relationship Id="rId4" Type="http://schemas.openxmlformats.org/officeDocument/2006/relationships/hyperlink" Target="https://microsoft.ai/news/today-were-announcing-3-new-world-class-mai-models-available-in-foundry/" TargetMode="External"/><Relationship Id="rId9" Type="http://schemas.openxmlformats.org/officeDocument/2006/relationships/hyperlink" Target="https://www.anthropic.com/news/claude-fable-5-mythos-5" TargetMode="External"/><Relationship Id="rId14" Type="http://schemas.openxmlformats.org/officeDocument/2006/relationships/hyperlink" Target="https://github.com/microsoft/Build26-LAB532-from-data-to-context-agent-ready-knowledge-with-foundry-i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0"/>
              </a:spcAft>
            </a:pPr>
            <a:r>
              <a:rPr sz="2200" b="1" dirty="0">
                <a:solidFill>
                  <a:srgbClr val="0B5ED7"/>
                </a:solidFill>
              </a:rPr>
              <a:t>🐍 Python + AI Office Hours Weekly News Roundup</a:t>
            </a:r>
            <a:r>
              <a:rPr lang="en-US" sz="2200" b="1" dirty="0">
                <a:solidFill>
                  <a:srgbClr val="0B5ED7"/>
                </a:solidFill>
              </a:rPr>
              <a:t>:</a:t>
            </a:r>
            <a:r>
              <a:rPr sz="2200" b="1" dirty="0">
                <a:solidFill>
                  <a:srgbClr val="0B5ED7"/>
                </a:solidFill>
              </a:rPr>
              <a:t> June 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265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6F2DA8"/>
                </a:solidFill>
              </a:rPr>
              <a:t>🏢 Microsoft / GitHub (Build 2026!)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400" dirty="0">
                <a:solidFill>
                  <a:srgbClr val="1A1A1A"/>
                </a:solidFill>
              </a:rPr>
              <a:t>Build 2026: 132 announcements master list</a:t>
            </a:r>
            <a:r>
              <a:rPr sz="1400" dirty="0">
                <a:solidFill>
                  <a:srgbClr val="6C757D"/>
                </a:solidFill>
                <a:hlinkClick r:id="rId2"/>
              </a:rPr>
              <a:t>  github.com/matthansen0/matts-build-2026-list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Foundry: hosted agents, IQ, 12K+ models</a:t>
            </a:r>
            <a:r>
              <a:rPr sz="1400" dirty="0">
                <a:solidFill>
                  <a:srgbClr val="6C757D"/>
                </a:solidFill>
                <a:hlinkClick r:id="rId3"/>
              </a:rPr>
              <a:t>  devblogs.microsoft.com/foundry/whats-new-in-microsoft-foundry-build-2026/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7 new MAI models (Thinking-1, Code, Voice…)</a:t>
            </a:r>
            <a:r>
              <a:rPr sz="1400" dirty="0">
                <a:solidFill>
                  <a:srgbClr val="6C757D"/>
                </a:solidFill>
                <a:hlinkClick r:id="rId4"/>
              </a:rPr>
              <a:t>  microsoft.ai/news/today-were-announcing-3-new-world-class-mai-models-available-in-foundry/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VS Code 1.123: Agents window + session sync</a:t>
            </a:r>
            <a:r>
              <a:rPr sz="1400" dirty="0">
                <a:solidFill>
                  <a:srgbClr val="6C757D"/>
                </a:solidFill>
                <a:hlinkClick r:id="rId5"/>
              </a:rPr>
              <a:t>  code.visualstudio.com/updates/v1_123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Copilot App: multi-agent desktop (tech preview)</a:t>
            </a:r>
            <a:r>
              <a:rPr sz="1400" dirty="0">
                <a:solidFill>
                  <a:srgbClr val="6C757D"/>
                </a:solidFill>
                <a:hlinkClick r:id="rId6"/>
              </a:rPr>
              <a:t>  github.blog/changelog/2026-06-03-github-copilot-in-visual-studio-code-may-releases/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Copilot billing → usage-based AI Credits</a:t>
            </a:r>
            <a:r>
              <a:rPr sz="1400" dirty="0">
                <a:solidFill>
                  <a:srgbClr val="6C757D"/>
                </a:solidFill>
                <a:hlinkClick r:id="rId7"/>
              </a:rPr>
              <a:t>  github.blog/changelog/2026-06-01-updates-to-github-copilot-billing-and-plans/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Microsoft IQ: unified intelligence layer</a:t>
            </a:r>
            <a:r>
              <a:rPr sz="1400" dirty="0">
                <a:solidFill>
                  <a:srgbClr val="6C757D"/>
                </a:solidFill>
                <a:hlinkClick r:id="rId3"/>
              </a:rPr>
              <a:t>  devblogs.microsoft.com/foundry/whats-new-in-microsoft-foundry-build-2026/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Agent 365 SDK GA + governance controls</a:t>
            </a:r>
            <a:r>
              <a:rPr sz="1400" dirty="0">
                <a:solidFill>
                  <a:srgbClr val="6C757D"/>
                </a:solidFill>
                <a:hlinkClick r:id="rId8"/>
              </a:rPr>
              <a:t>  forbes.com/sites/janakirammsv/2026/06/09/microsoft-makes-governance-the-gate-for-enterprise-ai-agents/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29000"/>
            <a:ext cx="4053842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1A7F37"/>
                </a:solidFill>
              </a:rPr>
              <a:t>🌐 Industry</a:t>
            </a:r>
          </a:p>
          <a:p>
            <a:pPr>
              <a:spcAft>
                <a:spcPts val="300"/>
              </a:spcAft>
            </a:pPr>
            <a:r>
              <a:rPr lang="en-US" sz="1300" dirty="0">
                <a:solidFill>
                  <a:srgbClr val="1A1A1A"/>
                </a:solidFill>
              </a:rPr>
              <a:t>• Claude Fable 5 (Mythos-class model)</a:t>
            </a:r>
            <a:br>
              <a:rPr lang="en-US" sz="1300" dirty="0">
                <a:solidFill>
                  <a:srgbClr val="1A1A1A"/>
                </a:solidFill>
              </a:rPr>
            </a:br>
            <a:r>
              <a:rPr lang="en-US" sz="1000" dirty="0">
                <a:solidFill>
                  <a:srgbClr val="6C757D"/>
                </a:solidFill>
                <a:hlinkClick r:id="rId9"/>
              </a:rPr>
              <a:t>anthropic.com/news/claude-fable-5-mythos-5</a:t>
            </a:r>
            <a:endParaRPr lang="en-US" sz="1300" dirty="0">
              <a:solidFill>
                <a:srgbClr val="1A1A1A"/>
              </a:solidFill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Claude Opus 4.8 launched for coding + agents</a:t>
            </a:r>
            <a:r>
              <a:rPr sz="1000" dirty="0">
                <a:solidFill>
                  <a:srgbClr val="6C757D"/>
                </a:solidFill>
                <a:hlinkClick r:id="rId10"/>
              </a:rPr>
              <a:t>  anthropic.com/news/claude-opus-4-8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Pragmatic Eng: slow down to speed up w/ agents</a:t>
            </a:r>
            <a:r>
              <a:rPr sz="1000" dirty="0">
                <a:solidFill>
                  <a:srgbClr val="6C757D"/>
                </a:solidFill>
                <a:hlinkClick r:id="rId11"/>
              </a:rPr>
              <a:t>  newsletter.pragmaticengineer.com/p/ideas-slow-down-to-speed-up-when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Claude orchestration mode design pattern</a:t>
            </a:r>
            <a:r>
              <a:rPr sz="1000" dirty="0">
                <a:solidFill>
                  <a:srgbClr val="6C757D"/>
                </a:solidFill>
                <a:hlinkClick r:id="rId12"/>
              </a:rPr>
              <a:t>  platform.claude.com/docs/en/build-with-claude/mid-conversation-effort-example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1A1A1A"/>
                </a:solidFill>
              </a:rPr>
              <a:t>• </a:t>
            </a:r>
            <a:r>
              <a:rPr sz="1300" dirty="0" err="1">
                <a:solidFill>
                  <a:srgbClr val="1A1A1A"/>
                </a:solidFill>
              </a:rPr>
              <a:t>SkillOpt</a:t>
            </a:r>
            <a:r>
              <a:rPr sz="1300" dirty="0">
                <a:solidFill>
                  <a:srgbClr val="1A1A1A"/>
                </a:solidFill>
              </a:rPr>
              <a:t>: self-evolving agent skills (paper)</a:t>
            </a:r>
            <a:r>
              <a:rPr sz="1000" dirty="0">
                <a:solidFill>
                  <a:srgbClr val="6C757D"/>
                </a:solidFill>
                <a:hlinkClick r:id="rId13"/>
              </a:rPr>
              <a:t>  arxiv.org/abs/2605.23904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2" y="3415903"/>
            <a:ext cx="7176285" cy="238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rgbClr val="1A1A1A"/>
                </a:solidFill>
              </a:rPr>
              <a:t>• Build Lab 532: </a:t>
            </a:r>
            <a:r>
              <a:rPr sz="1500" dirty="0" err="1">
                <a:solidFill>
                  <a:srgbClr val="1A1A1A"/>
                </a:solidFill>
              </a:rPr>
              <a:t>Data→Context</a:t>
            </a:r>
            <a:r>
              <a:rPr sz="1500" dirty="0">
                <a:solidFill>
                  <a:srgbClr val="1A1A1A"/>
                </a:solidFill>
              </a:rPr>
              <a:t> w/ Foundry IQ</a:t>
            </a:r>
            <a:r>
              <a:rPr lang="en-US" sz="1500" dirty="0">
                <a:solidFill>
                  <a:srgbClr val="6C757D"/>
                </a:solidFill>
              </a:rPr>
              <a:t> </a:t>
            </a:r>
            <a:r>
              <a:rPr sz="1500" dirty="0">
                <a:solidFill>
                  <a:srgbClr val="6C757D"/>
                </a:solidFill>
                <a:hlinkClick r:id="rId14"/>
              </a:rPr>
              <a:t>github.com/microsoft/Build26-LAB532-from-data-to-context-agent-ready-knowledge-with-foundry-iq</a:t>
            </a:r>
          </a:p>
          <a:p>
            <a:pPr>
              <a:spcAft>
                <a:spcPts val="200"/>
              </a:spcAft>
            </a:pPr>
            <a:endParaRPr sz="1000" dirty="0">
              <a:solidFill>
                <a:srgbClr val="6C757D"/>
              </a:solidFill>
              <a:hlinkClick r:id="rId15"/>
            </a:endParaRP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D6EFD"/>
                </a:solidFill>
              </a:rPr>
              <a:t>📅 Upcoming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rgbClr val="1A1A1A"/>
                </a:solidFill>
              </a:rPr>
              <a:t>• </a:t>
            </a:r>
            <a:r>
              <a:rPr sz="1500" dirty="0" err="1">
                <a:solidFill>
                  <a:srgbClr val="1A1A1A"/>
                </a:solidFill>
              </a:rPr>
              <a:t>Posette</a:t>
            </a:r>
            <a:r>
              <a:rPr sz="1500" dirty="0">
                <a:solidFill>
                  <a:srgbClr val="1A1A1A"/>
                </a:solidFill>
              </a:rPr>
              <a:t> (Virtual): Jun 16–18, 2026</a:t>
            </a:r>
            <a:r>
              <a:rPr sz="1500" dirty="0">
                <a:solidFill>
                  <a:srgbClr val="6C757D"/>
                </a:solidFill>
                <a:hlinkClick r:id="rId16"/>
              </a:rPr>
              <a:t>  posetteconf.com/2026/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rgbClr val="1A1A1A"/>
                </a:solidFill>
              </a:rPr>
              <a:t>• AI Engineer World's Fair: Jun 30–Jul 2, SF</a:t>
            </a:r>
            <a:r>
              <a:rPr sz="1500" dirty="0">
                <a:solidFill>
                  <a:srgbClr val="6C757D"/>
                </a:solidFill>
                <a:hlinkClick r:id="rId17"/>
              </a:rPr>
              <a:t>  ai.engineer/worldsfair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rgbClr val="1A1A1A"/>
                </a:solidFill>
              </a:rPr>
              <a:t>• </a:t>
            </a:r>
            <a:r>
              <a:rPr sz="1500" dirty="0" err="1">
                <a:solidFill>
                  <a:srgbClr val="1A1A1A"/>
                </a:solidFill>
              </a:rPr>
              <a:t>DjangoCon</a:t>
            </a:r>
            <a:r>
              <a:rPr sz="1500" dirty="0">
                <a:solidFill>
                  <a:srgbClr val="1A1A1A"/>
                </a:solidFill>
              </a:rPr>
              <a:t> US: Aug 24–28, Chicago</a:t>
            </a:r>
            <a:r>
              <a:rPr sz="1500" dirty="0">
                <a:solidFill>
                  <a:srgbClr val="6C757D"/>
                </a:solidFill>
                <a:hlinkClick r:id="rId18"/>
              </a:rPr>
              <a:t>  2026.djangocon.us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330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Fox</cp:lastModifiedBy>
  <cp:revision>3</cp:revision>
  <dcterms:created xsi:type="dcterms:W3CDTF">2013-01-27T09:14:16Z</dcterms:created>
  <dcterms:modified xsi:type="dcterms:W3CDTF">2026-06-11T18:21:37Z</dcterms:modified>
  <cp:category/>
</cp:coreProperties>
</file>