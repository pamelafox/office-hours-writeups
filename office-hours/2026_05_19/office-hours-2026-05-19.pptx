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26"/>
  </p:normalViewPr>
  <p:slideViewPr>
    <p:cSldViewPr snapToGrid="0" snapToObjects="1">
      <p:cViewPr varScale="1">
        <p:scale>
          <a:sx n="158" d="100"/>
          <a:sy n="158" d="100"/>
        </p:scale>
        <p:origin x="64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0"/>
              </a:spcAft>
            </a:pPr>
            <a:r>
              <a:rPr sz="2200" b="1">
                <a:solidFill>
                  <a:srgbClr val="0B5ED7"/>
                </a:solidFill>
              </a:rPr>
              <a:t>🐍 Python + AI Office Hours — Weekly News Roundup — May 19,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826240" cy="2828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6F2DA8"/>
                </a:solidFill>
              </a:rPr>
              <a:t>🏢 Microsoft / GitHub</a:t>
            </a:r>
          </a:p>
          <a:p>
            <a:pPr>
              <a:spcAft>
                <a:spcPts val="300"/>
              </a:spcAft>
            </a:pPr>
            <a:r>
              <a:rPr dirty="0">
                <a:solidFill>
                  <a:srgbClr val="1A1A1A"/>
                </a:solidFill>
              </a:rPr>
              <a:t>• Copilot App: desktop agent technical preview</a:t>
            </a:r>
            <a:r>
              <a:rPr dirty="0">
                <a:solidFill>
                  <a:srgbClr val="6C757D"/>
                </a:solidFill>
              </a:rPr>
              <a:t>  </a:t>
            </a:r>
            <a:r>
              <a:rPr dirty="0" err="1">
                <a:solidFill>
                  <a:srgbClr val="6C757D"/>
                </a:solidFill>
              </a:rPr>
              <a:t>github.blog</a:t>
            </a:r>
            <a:r>
              <a:rPr dirty="0">
                <a:solidFill>
                  <a:srgbClr val="6C757D"/>
                </a:solidFill>
              </a:rPr>
              <a:t>/2026-05-14-github-copilot-app-technical-preview</a:t>
            </a:r>
          </a:p>
          <a:p>
            <a:pPr>
              <a:spcAft>
                <a:spcPts val="300"/>
              </a:spcAft>
            </a:pPr>
            <a:r>
              <a:rPr dirty="0">
                <a:solidFill>
                  <a:srgbClr val="1A1A1A"/>
                </a:solidFill>
              </a:rPr>
              <a:t>• Copilot remote control across devices live</a:t>
            </a:r>
            <a:r>
              <a:rPr dirty="0">
                <a:solidFill>
                  <a:srgbClr val="6C757D"/>
                </a:solidFill>
              </a:rPr>
              <a:t>  </a:t>
            </a:r>
            <a:r>
              <a:rPr dirty="0" err="1">
                <a:solidFill>
                  <a:srgbClr val="6C757D"/>
                </a:solidFill>
              </a:rPr>
              <a:t>blockchain.news</a:t>
            </a:r>
            <a:r>
              <a:rPr dirty="0">
                <a:solidFill>
                  <a:srgbClr val="6C757D"/>
                </a:solidFill>
              </a:rPr>
              <a:t>/news/</a:t>
            </a:r>
            <a:r>
              <a:rPr dirty="0" err="1">
                <a:solidFill>
                  <a:srgbClr val="6C757D"/>
                </a:solidFill>
              </a:rPr>
              <a:t>github</a:t>
            </a:r>
            <a:r>
              <a:rPr dirty="0">
                <a:solidFill>
                  <a:srgbClr val="6C757D"/>
                </a:solidFill>
              </a:rPr>
              <a:t>-copilot-remote-control-launch</a:t>
            </a:r>
          </a:p>
          <a:p>
            <a:pPr>
              <a:spcAft>
                <a:spcPts val="300"/>
              </a:spcAft>
            </a:pPr>
            <a:r>
              <a:rPr dirty="0">
                <a:solidFill>
                  <a:srgbClr val="1A1A1A"/>
                </a:solidFill>
              </a:rPr>
              <a:t>• Copilot Biz/Enterprise: GPT-5.3-Codex LTS</a:t>
            </a:r>
            <a:r>
              <a:rPr dirty="0">
                <a:solidFill>
                  <a:srgbClr val="6C757D"/>
                </a:solidFill>
              </a:rPr>
              <a:t>  </a:t>
            </a:r>
            <a:r>
              <a:rPr dirty="0" err="1">
                <a:solidFill>
                  <a:srgbClr val="6C757D"/>
                </a:solidFill>
              </a:rPr>
              <a:t>oregand.github.io</a:t>
            </a:r>
            <a:r>
              <a:rPr dirty="0">
                <a:solidFill>
                  <a:srgbClr val="6C757D"/>
                </a:solidFill>
              </a:rPr>
              <a:t>/copilot-</a:t>
            </a:r>
            <a:r>
              <a:rPr dirty="0" err="1">
                <a:solidFill>
                  <a:srgbClr val="6C757D"/>
                </a:solidFill>
              </a:rPr>
              <a:t>feed.html</a:t>
            </a:r>
            <a:endParaRPr dirty="0">
              <a:solidFill>
                <a:srgbClr val="6C757D"/>
              </a:solidFill>
            </a:endParaRPr>
          </a:p>
          <a:p>
            <a:pPr>
              <a:spcAft>
                <a:spcPts val="300"/>
              </a:spcAft>
            </a:pPr>
            <a:r>
              <a:rPr dirty="0">
                <a:solidFill>
                  <a:srgbClr val="1A1A1A"/>
                </a:solidFill>
              </a:rPr>
              <a:t>• Foundry: 3 new MAI models (speech, voice, image)</a:t>
            </a:r>
            <a:r>
              <a:rPr dirty="0">
                <a:solidFill>
                  <a:srgbClr val="6C757D"/>
                </a:solidFill>
              </a:rPr>
              <a:t>  </a:t>
            </a:r>
            <a:r>
              <a:rPr dirty="0" err="1">
                <a:solidFill>
                  <a:srgbClr val="6C757D"/>
                </a:solidFill>
              </a:rPr>
              <a:t>microsoft.ai</a:t>
            </a:r>
            <a:r>
              <a:rPr dirty="0">
                <a:solidFill>
                  <a:srgbClr val="6C757D"/>
                </a:solidFill>
              </a:rPr>
              <a:t>/news/today-were-announcing-3-new-world-class-mai-models-available-in-foundry/</a:t>
            </a:r>
          </a:p>
          <a:p>
            <a:pPr>
              <a:spcAft>
                <a:spcPts val="300"/>
              </a:spcAft>
            </a:pPr>
            <a:r>
              <a:rPr dirty="0">
                <a:solidFill>
                  <a:srgbClr val="1A1A1A"/>
                </a:solidFill>
              </a:rPr>
              <a:t>• azure-ai-projects SDK 2.0.0 stable released</a:t>
            </a:r>
            <a:r>
              <a:rPr dirty="0">
                <a:solidFill>
                  <a:srgbClr val="6C757D"/>
                </a:solidFill>
              </a:rPr>
              <a:t>  </a:t>
            </a:r>
            <a:r>
              <a:rPr dirty="0" err="1">
                <a:solidFill>
                  <a:srgbClr val="6C757D"/>
                </a:solidFill>
              </a:rPr>
              <a:t>learn.microsoft.com</a:t>
            </a:r>
            <a:r>
              <a:rPr dirty="0">
                <a:solidFill>
                  <a:srgbClr val="6C757D"/>
                </a:solidFill>
              </a:rPr>
              <a:t>/</a:t>
            </a:r>
            <a:r>
              <a:rPr dirty="0" err="1">
                <a:solidFill>
                  <a:srgbClr val="6C757D"/>
                </a:solidFill>
              </a:rPr>
              <a:t>en</a:t>
            </a:r>
            <a:r>
              <a:rPr dirty="0">
                <a:solidFill>
                  <a:srgbClr val="6C757D"/>
                </a:solidFill>
              </a:rPr>
              <a:t>-us/azure/foundry/</a:t>
            </a:r>
            <a:r>
              <a:rPr dirty="0" err="1">
                <a:solidFill>
                  <a:srgbClr val="6C757D"/>
                </a:solidFill>
              </a:rPr>
              <a:t>whats</a:t>
            </a:r>
            <a:r>
              <a:rPr dirty="0">
                <a:solidFill>
                  <a:srgbClr val="6C757D"/>
                </a:solidFill>
              </a:rPr>
              <a:t>-new-foundry</a:t>
            </a:r>
          </a:p>
          <a:p>
            <a:pPr>
              <a:spcAft>
                <a:spcPts val="300"/>
              </a:spcAft>
            </a:pPr>
            <a:r>
              <a:rPr dirty="0">
                <a:solidFill>
                  <a:srgbClr val="1A1A1A"/>
                </a:solidFill>
              </a:rPr>
              <a:t>• M365 Copilot update: GPT-5.5 models added</a:t>
            </a:r>
            <a:r>
              <a:rPr dirty="0">
                <a:solidFill>
                  <a:srgbClr val="6C757D"/>
                </a:solidFill>
              </a:rPr>
              <a:t>  </a:t>
            </a:r>
            <a:r>
              <a:rPr dirty="0" err="1">
                <a:solidFill>
                  <a:srgbClr val="6C757D"/>
                </a:solidFill>
              </a:rPr>
              <a:t>thewincentral.com</a:t>
            </a:r>
            <a:r>
              <a:rPr dirty="0">
                <a:solidFill>
                  <a:srgbClr val="6C757D"/>
                </a:solidFill>
              </a:rPr>
              <a:t>/microsoft-365-copilot-may-2026-update-gpt-5-5/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91519" y="3588965"/>
            <a:ext cx="4232134" cy="2362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000" dirty="0"/>
          </a:p>
          <a:p>
            <a:pPr>
              <a:spcAft>
                <a:spcPts val="200"/>
              </a:spcAft>
            </a:pPr>
            <a:endParaRPr sz="2000" dirty="0">
              <a:solidFill>
                <a:srgbClr val="6C757D"/>
              </a:solidFill>
            </a:endParaRPr>
          </a:p>
          <a:p>
            <a:pPr>
              <a:spcAft>
                <a:spcPts val="400"/>
              </a:spcAft>
            </a:pPr>
            <a:r>
              <a:rPr sz="2000" b="1" dirty="0">
                <a:solidFill>
                  <a:srgbClr val="0D6EFD"/>
                </a:solidFill>
              </a:rPr>
              <a:t>📅 Upcoming</a:t>
            </a:r>
          </a:p>
          <a:p>
            <a:pPr>
              <a:spcAft>
                <a:spcPts val="300"/>
              </a:spcAft>
            </a:pPr>
            <a:r>
              <a:rPr sz="2000" dirty="0">
                <a:solidFill>
                  <a:srgbClr val="1A1A1A"/>
                </a:solidFill>
              </a:rPr>
              <a:t>• Microsoft Build SF: Jun 2–3, 2026</a:t>
            </a:r>
            <a:r>
              <a:rPr sz="2000" dirty="0">
                <a:solidFill>
                  <a:srgbClr val="6C757D"/>
                </a:solidFill>
              </a:rPr>
              <a:t>  </a:t>
            </a:r>
            <a:r>
              <a:rPr sz="2000" dirty="0" err="1">
                <a:solidFill>
                  <a:srgbClr val="6C757D"/>
                </a:solidFill>
              </a:rPr>
              <a:t>aka.ms</a:t>
            </a:r>
            <a:r>
              <a:rPr sz="2000" dirty="0">
                <a:solidFill>
                  <a:srgbClr val="6C757D"/>
                </a:solidFill>
              </a:rPr>
              <a:t>/MS_Build_26_DAC26</a:t>
            </a:r>
          </a:p>
          <a:p>
            <a:pPr>
              <a:spcAft>
                <a:spcPts val="300"/>
              </a:spcAft>
            </a:pPr>
            <a:r>
              <a:rPr sz="2000" dirty="0">
                <a:solidFill>
                  <a:srgbClr val="1A1A1A"/>
                </a:solidFill>
              </a:rPr>
              <a:t>• </a:t>
            </a:r>
            <a:r>
              <a:rPr sz="2000" dirty="0" err="1">
                <a:solidFill>
                  <a:srgbClr val="1A1A1A"/>
                </a:solidFill>
              </a:rPr>
              <a:t>Posette</a:t>
            </a:r>
            <a:r>
              <a:rPr sz="2000" dirty="0">
                <a:solidFill>
                  <a:srgbClr val="1A1A1A"/>
                </a:solidFill>
              </a:rPr>
              <a:t> (Virtual): Jun 16–18, 2026</a:t>
            </a:r>
            <a:r>
              <a:rPr sz="2000" dirty="0">
                <a:solidFill>
                  <a:srgbClr val="6C757D"/>
                </a:solidFill>
              </a:rPr>
              <a:t>  </a:t>
            </a:r>
            <a:r>
              <a:rPr sz="2000" dirty="0" err="1">
                <a:solidFill>
                  <a:srgbClr val="6C757D"/>
                </a:solidFill>
              </a:rPr>
              <a:t>posetteconf.com</a:t>
            </a:r>
            <a:r>
              <a:rPr sz="2000" dirty="0">
                <a:solidFill>
                  <a:srgbClr val="6C757D"/>
                </a:solidFill>
              </a:rPr>
              <a:t>/2026/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AE1918-5053-C3C8-ED8F-4E57FC303079}"/>
              </a:ext>
            </a:extLst>
          </p:cNvPr>
          <p:cNvSpPr txBox="1"/>
          <p:nvPr/>
        </p:nvSpPr>
        <p:spPr>
          <a:xfrm>
            <a:off x="365760" y="4177000"/>
            <a:ext cx="6097348" cy="249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2000" b="1" dirty="0">
                <a:solidFill>
                  <a:srgbClr val="0D6EFD"/>
                </a:solidFill>
              </a:rPr>
              <a:t>👩‍💻 What I've Been Up To</a:t>
            </a:r>
          </a:p>
          <a:p>
            <a:pPr>
              <a:spcAft>
                <a:spcPts val="300"/>
              </a:spcAft>
            </a:pPr>
            <a:r>
              <a:rPr lang="en-US" sz="1800" dirty="0">
                <a:solidFill>
                  <a:srgbClr val="1A1A1A"/>
                </a:solidFill>
              </a:rPr>
              <a:t>• </a:t>
            </a:r>
            <a:r>
              <a:rPr lang="en-US" sz="1800" dirty="0" err="1">
                <a:solidFill>
                  <a:srgbClr val="1A1A1A"/>
                </a:solidFill>
              </a:rPr>
              <a:t>PyCon</a:t>
            </a:r>
            <a:r>
              <a:rPr lang="en-US" sz="1800" dirty="0">
                <a:solidFill>
                  <a:srgbClr val="1A1A1A"/>
                </a:solidFill>
              </a:rPr>
              <a:t> US: Tutorial — Build first MCP server</a:t>
            </a:r>
            <a:r>
              <a:rPr lang="en-US" sz="1100" dirty="0">
                <a:solidFill>
                  <a:srgbClr val="6C757D"/>
                </a:solidFill>
              </a:rPr>
              <a:t>  </a:t>
            </a:r>
            <a:r>
              <a:rPr lang="en-US" sz="1100" dirty="0" err="1">
                <a:solidFill>
                  <a:srgbClr val="6C757D"/>
                </a:solidFill>
              </a:rPr>
              <a:t>github.com</a:t>
            </a:r>
            <a:r>
              <a:rPr lang="en-US" sz="1100" dirty="0">
                <a:solidFill>
                  <a:srgbClr val="6C757D"/>
                </a:solidFill>
              </a:rPr>
              <a:t>/</a:t>
            </a:r>
            <a:r>
              <a:rPr lang="en-US" sz="1100" dirty="0" err="1">
                <a:solidFill>
                  <a:srgbClr val="6C757D"/>
                </a:solidFill>
              </a:rPr>
              <a:t>pamelafox</a:t>
            </a:r>
            <a:r>
              <a:rPr lang="en-US" sz="1100" dirty="0">
                <a:solidFill>
                  <a:srgbClr val="6C757D"/>
                </a:solidFill>
              </a:rPr>
              <a:t>/pycon2026-mcp-tutorial</a:t>
            </a:r>
          </a:p>
          <a:p>
            <a:pPr>
              <a:spcAft>
                <a:spcPts val="300"/>
              </a:spcAft>
            </a:pPr>
            <a:r>
              <a:rPr lang="en-US" sz="1800" dirty="0">
                <a:solidFill>
                  <a:srgbClr val="1A1A1A"/>
                </a:solidFill>
              </a:rPr>
              <a:t>• </a:t>
            </a:r>
            <a:r>
              <a:rPr lang="en-US" sz="1800" dirty="0" err="1">
                <a:solidFill>
                  <a:srgbClr val="1A1A1A"/>
                </a:solidFill>
              </a:rPr>
              <a:t>PyCon</a:t>
            </a:r>
            <a:r>
              <a:rPr lang="en-US" sz="1800" dirty="0">
                <a:solidFill>
                  <a:srgbClr val="1A1A1A"/>
                </a:solidFill>
              </a:rPr>
              <a:t> US </a:t>
            </a:r>
            <a:r>
              <a:rPr lang="en-US" sz="1800" dirty="0" err="1">
                <a:solidFill>
                  <a:srgbClr val="1A1A1A"/>
                </a:solidFill>
              </a:rPr>
              <a:t>EduSummit</a:t>
            </a:r>
            <a:r>
              <a:rPr lang="en-US" sz="1800" dirty="0">
                <a:solidFill>
                  <a:srgbClr val="1A1A1A"/>
                </a:solidFill>
              </a:rPr>
              <a:t>: AI-powered slides talk</a:t>
            </a:r>
            <a:r>
              <a:rPr lang="en-US" sz="1100" dirty="0">
                <a:solidFill>
                  <a:srgbClr val="6C757D"/>
                </a:solidFill>
              </a:rPr>
              <a:t>  </a:t>
            </a:r>
            <a:r>
              <a:rPr lang="en-US" sz="1100" dirty="0" err="1">
                <a:solidFill>
                  <a:srgbClr val="6C757D"/>
                </a:solidFill>
              </a:rPr>
              <a:t>us.pycon.org</a:t>
            </a:r>
            <a:r>
              <a:rPr lang="en-US" sz="1100" dirty="0">
                <a:solidFill>
                  <a:srgbClr val="6C757D"/>
                </a:solidFill>
              </a:rPr>
              <a:t>/2026/events/education-summit/</a:t>
            </a:r>
          </a:p>
          <a:p>
            <a:pPr>
              <a:spcAft>
                <a:spcPts val="300"/>
              </a:spcAft>
            </a:pPr>
            <a:r>
              <a:rPr lang="en-US" sz="1800" dirty="0">
                <a:solidFill>
                  <a:srgbClr val="1A1A1A"/>
                </a:solidFill>
              </a:rPr>
              <a:t>• python-</a:t>
            </a:r>
            <a:r>
              <a:rPr lang="en-US" sz="1800" dirty="0" err="1">
                <a:solidFill>
                  <a:srgbClr val="1A1A1A"/>
                </a:solidFill>
              </a:rPr>
              <a:t>openai</a:t>
            </a:r>
            <a:r>
              <a:rPr lang="en-US" sz="1800" dirty="0">
                <a:solidFill>
                  <a:srgbClr val="1A1A1A"/>
                </a:solidFill>
              </a:rPr>
              <a:t>-demos: </a:t>
            </a:r>
            <a:r>
              <a:rPr lang="en-US" sz="1800" dirty="0" err="1">
                <a:solidFill>
                  <a:srgbClr val="1A1A1A"/>
                </a:solidFill>
              </a:rPr>
              <a:t>Ollama</a:t>
            </a:r>
            <a:r>
              <a:rPr lang="en-US" sz="1800" dirty="0">
                <a:solidFill>
                  <a:srgbClr val="1A1A1A"/>
                </a:solidFill>
              </a:rPr>
              <a:t> </a:t>
            </a:r>
            <a:r>
              <a:rPr lang="en-US" sz="1800" dirty="0" err="1">
                <a:solidFill>
                  <a:srgbClr val="1A1A1A"/>
                </a:solidFill>
              </a:rPr>
              <a:t>devcontainer</a:t>
            </a:r>
            <a:r>
              <a:rPr lang="en-US" sz="1100" dirty="0">
                <a:solidFill>
                  <a:srgbClr val="6C757D"/>
                </a:solidFill>
              </a:rPr>
              <a:t>  </a:t>
            </a:r>
            <a:r>
              <a:rPr lang="en-US" sz="1100" dirty="0" err="1">
                <a:solidFill>
                  <a:srgbClr val="6C757D"/>
                </a:solidFill>
              </a:rPr>
              <a:t>github.com</a:t>
            </a:r>
            <a:r>
              <a:rPr lang="en-US" sz="1100" dirty="0">
                <a:solidFill>
                  <a:srgbClr val="6C757D"/>
                </a:solidFill>
              </a:rPr>
              <a:t>/Azure-Samples/python-</a:t>
            </a:r>
            <a:r>
              <a:rPr lang="en-US" sz="1100" dirty="0" err="1">
                <a:solidFill>
                  <a:srgbClr val="6C757D"/>
                </a:solidFill>
              </a:rPr>
              <a:t>openai</a:t>
            </a:r>
            <a:r>
              <a:rPr lang="en-US" sz="1100" dirty="0">
                <a:solidFill>
                  <a:srgbClr val="6C757D"/>
                </a:solidFill>
              </a:rPr>
              <a:t>-demos</a:t>
            </a:r>
          </a:p>
          <a:p>
            <a:pPr>
              <a:spcAft>
                <a:spcPts val="300"/>
              </a:spcAft>
            </a:pPr>
            <a:r>
              <a:rPr lang="en-US" sz="1800" dirty="0">
                <a:solidFill>
                  <a:srgbClr val="1A1A1A"/>
                </a:solidFill>
              </a:rPr>
              <a:t>• Contributions to pallets/click (docs + fixes)</a:t>
            </a:r>
            <a:r>
              <a:rPr lang="en-US" sz="1100" dirty="0">
                <a:solidFill>
                  <a:srgbClr val="6C757D"/>
                </a:solidFill>
              </a:rPr>
              <a:t>  </a:t>
            </a:r>
            <a:r>
              <a:rPr lang="en-US" sz="1100" dirty="0" err="1">
                <a:solidFill>
                  <a:srgbClr val="6C757D"/>
                </a:solidFill>
              </a:rPr>
              <a:t>github.com</a:t>
            </a:r>
            <a:r>
              <a:rPr lang="en-US" sz="1100" dirty="0">
                <a:solidFill>
                  <a:srgbClr val="6C757D"/>
                </a:solidFill>
              </a:rPr>
              <a:t>/pallets/click/pulls</a:t>
            </a:r>
          </a:p>
          <a:p>
            <a:pPr>
              <a:spcAft>
                <a:spcPts val="300"/>
              </a:spcAft>
            </a:pPr>
            <a:r>
              <a:rPr lang="en-US" sz="1800" dirty="0">
                <a:solidFill>
                  <a:srgbClr val="1A1A1A"/>
                </a:solidFill>
              </a:rPr>
              <a:t>• Contributions to pallets/website</a:t>
            </a:r>
            <a:r>
              <a:rPr lang="en-US" sz="1100" dirty="0">
                <a:solidFill>
                  <a:srgbClr val="6C757D"/>
                </a:solidFill>
              </a:rPr>
              <a:t>  </a:t>
            </a:r>
            <a:r>
              <a:rPr lang="en-US" sz="1100" dirty="0" err="1">
                <a:solidFill>
                  <a:srgbClr val="6C757D"/>
                </a:solidFill>
              </a:rPr>
              <a:t>github.com</a:t>
            </a:r>
            <a:r>
              <a:rPr lang="en-US" sz="1100" dirty="0">
                <a:solidFill>
                  <a:srgbClr val="6C757D"/>
                </a:solidFill>
              </a:rPr>
              <a:t>/pallets/website/pulls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1312</TotalTime>
  <Words>245</Words>
  <Application>Microsoft Macintosh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Pamela Fox</cp:lastModifiedBy>
  <cp:revision>2</cp:revision>
  <dcterms:created xsi:type="dcterms:W3CDTF">2013-01-27T09:14:16Z</dcterms:created>
  <dcterms:modified xsi:type="dcterms:W3CDTF">2026-05-20T15:55:26Z</dcterms:modified>
  <cp:category/>
</cp:coreProperties>
</file>