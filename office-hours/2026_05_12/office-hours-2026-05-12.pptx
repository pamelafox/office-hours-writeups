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3"/>
    <p:restoredTop sz="94639"/>
  </p:normalViewPr>
  <p:slideViewPr>
    <p:cSldViewPr snapToGrid="0" snapToObjects="1">
      <p:cViewPr varScale="1">
        <p:scale>
          <a:sx n="149" d="100"/>
          <a:sy n="149" d="100"/>
        </p:scale>
        <p:origin x="192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B5ED7"/>
                </a:solidFill>
              </a:rPr>
              <a:t>🐍 Python + AI Office Hours — Weekly News Roundup — May 12,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374903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6F2DA8"/>
                </a:solidFill>
              </a:rPr>
              <a:t>🏢 Microsoft / GitHub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Claude models available via Foundry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aka.ms</a:t>
            </a:r>
            <a:r>
              <a:rPr sz="1000" dirty="0">
                <a:solidFill>
                  <a:srgbClr val="6C757D"/>
                </a:solidFill>
              </a:rPr>
              <a:t>/</a:t>
            </a:r>
            <a:r>
              <a:rPr sz="1000" dirty="0" err="1">
                <a:solidFill>
                  <a:srgbClr val="6C757D"/>
                </a:solidFill>
              </a:rPr>
              <a:t>claude</a:t>
            </a:r>
            <a:r>
              <a:rPr sz="1000" dirty="0">
                <a:solidFill>
                  <a:srgbClr val="6C757D"/>
                </a:solidFill>
              </a:rPr>
              <a:t>/start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GPT-5.5 now in GitHub Copilot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github.blog</a:t>
            </a:r>
            <a:r>
              <a:rPr sz="1000" dirty="0">
                <a:solidFill>
                  <a:srgbClr val="6C757D"/>
                </a:solidFill>
              </a:rPr>
              <a:t>/changelog/2026-04-24-gpt-5-5-is-generally-available-for-github-copilot/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Copilot: sign-ups paused, rate limits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dev.to</a:t>
            </a:r>
            <a:r>
              <a:rPr sz="1000" dirty="0">
                <a:solidFill>
                  <a:srgbClr val="6C757D"/>
                </a:solidFill>
              </a:rPr>
              <a:t>/</a:t>
            </a:r>
            <a:r>
              <a:rPr sz="1000" dirty="0" err="1">
                <a:solidFill>
                  <a:srgbClr val="6C757D"/>
                </a:solidFill>
              </a:rPr>
              <a:t>techsifted</a:t>
            </a:r>
            <a:r>
              <a:rPr sz="1000" dirty="0">
                <a:solidFill>
                  <a:srgbClr val="6C757D"/>
                </a:solidFill>
              </a:rPr>
              <a:t>/github-copilot-may-2026-changes-sign-ups-paused-opus-removed-rate-limits-visible-2ip8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Agent Framework + Anthropic client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github.com</a:t>
            </a:r>
            <a:r>
              <a:rPr sz="1000" dirty="0">
                <a:solidFill>
                  <a:srgbClr val="6C757D"/>
                </a:solidFill>
              </a:rPr>
              <a:t>/</a:t>
            </a:r>
            <a:r>
              <a:rPr sz="1000" dirty="0" err="1">
                <a:solidFill>
                  <a:srgbClr val="6C757D"/>
                </a:solidFill>
              </a:rPr>
              <a:t>microsoft</a:t>
            </a:r>
            <a:r>
              <a:rPr sz="1000" dirty="0">
                <a:solidFill>
                  <a:srgbClr val="6C757D"/>
                </a:solidFill>
              </a:rPr>
              <a:t>/agent-framework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Build 2026 labs in development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github.com</a:t>
            </a:r>
            <a:r>
              <a:rPr sz="1000" dirty="0">
                <a:solidFill>
                  <a:srgbClr val="6C757D"/>
                </a:solidFill>
              </a:rPr>
              <a:t>/</a:t>
            </a:r>
            <a:r>
              <a:rPr sz="1000" dirty="0" err="1">
                <a:solidFill>
                  <a:srgbClr val="6C757D"/>
                </a:solidFill>
              </a:rPr>
              <a:t>microsoft</a:t>
            </a:r>
            <a:r>
              <a:rPr sz="1000" dirty="0">
                <a:solidFill>
                  <a:srgbClr val="6C757D"/>
                </a:solidFill>
              </a:rPr>
              <a:t>/Build26-LAB532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822960"/>
            <a:ext cx="374903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1A7F37"/>
                </a:solidFill>
              </a:rPr>
              <a:t>🌐 Industry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Code with Claude: agents, orchestration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code.claude.com</a:t>
            </a:r>
            <a:endParaRPr sz="1000" dirty="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</a:t>
            </a:r>
            <a:r>
              <a:rPr sz="1300" dirty="0" err="1">
                <a:solidFill>
                  <a:srgbClr val="1A1A1A"/>
                </a:solidFill>
              </a:rPr>
              <a:t>Pydantic</a:t>
            </a:r>
            <a:r>
              <a:rPr sz="1300" dirty="0">
                <a:solidFill>
                  <a:srgbClr val="1A1A1A"/>
                </a:solidFill>
              </a:rPr>
              <a:t> Monty: Python for agents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github.com</a:t>
            </a:r>
            <a:r>
              <a:rPr sz="1000" dirty="0">
                <a:solidFill>
                  <a:srgbClr val="6C757D"/>
                </a:solidFill>
              </a:rPr>
              <a:t>/</a:t>
            </a:r>
            <a:r>
              <a:rPr sz="1000" dirty="0" err="1">
                <a:solidFill>
                  <a:srgbClr val="6C757D"/>
                </a:solidFill>
              </a:rPr>
              <a:t>pydantic</a:t>
            </a:r>
            <a:r>
              <a:rPr sz="1000" dirty="0">
                <a:solidFill>
                  <a:srgbClr val="6C757D"/>
                </a:solidFill>
              </a:rPr>
              <a:t>/</a:t>
            </a:r>
            <a:r>
              <a:rPr sz="1000" dirty="0" err="1">
                <a:solidFill>
                  <a:srgbClr val="6C757D"/>
                </a:solidFill>
              </a:rPr>
              <a:t>monty</a:t>
            </a:r>
            <a:endParaRPr sz="1000" dirty="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</a:t>
            </a:r>
            <a:r>
              <a:rPr sz="1300" dirty="0" err="1">
                <a:solidFill>
                  <a:srgbClr val="1A1A1A"/>
                </a:solidFill>
              </a:rPr>
              <a:t>httpxyz</a:t>
            </a:r>
            <a:r>
              <a:rPr sz="1300" dirty="0">
                <a:solidFill>
                  <a:srgbClr val="1A1A1A"/>
                </a:solidFill>
              </a:rPr>
              <a:t>: community fork of </a:t>
            </a:r>
            <a:r>
              <a:rPr sz="1300" dirty="0" err="1">
                <a:solidFill>
                  <a:srgbClr val="1A1A1A"/>
                </a:solidFill>
              </a:rPr>
              <a:t>httpx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codeberg.org</a:t>
            </a:r>
            <a:r>
              <a:rPr sz="1000" dirty="0">
                <a:solidFill>
                  <a:srgbClr val="6C757D"/>
                </a:solidFill>
              </a:rPr>
              <a:t>/</a:t>
            </a:r>
            <a:r>
              <a:rPr sz="1000" dirty="0" err="1">
                <a:solidFill>
                  <a:srgbClr val="6C757D"/>
                </a:solidFill>
              </a:rPr>
              <a:t>httpxyz</a:t>
            </a:r>
            <a:r>
              <a:rPr sz="1000" dirty="0">
                <a:solidFill>
                  <a:srgbClr val="6C757D"/>
                </a:solidFill>
              </a:rPr>
              <a:t>/</a:t>
            </a:r>
            <a:r>
              <a:rPr sz="1000" dirty="0" err="1">
                <a:solidFill>
                  <a:srgbClr val="6C757D"/>
                </a:solidFill>
              </a:rPr>
              <a:t>httpxyz</a:t>
            </a:r>
            <a:endParaRPr sz="1000" dirty="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10 lessons for agentic coding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dbreunig.com</a:t>
            </a:r>
            <a:r>
              <a:rPr sz="1000" dirty="0">
                <a:solidFill>
                  <a:srgbClr val="6C757D"/>
                </a:solidFill>
              </a:rPr>
              <a:t>/2026/05/04/10-lessons-for-agentic-coding.html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OpenAI winding down fine-tuning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community.openai.com</a:t>
            </a:r>
            <a:r>
              <a:rPr sz="1000" dirty="0">
                <a:solidFill>
                  <a:srgbClr val="6C757D"/>
                </a:solidFill>
              </a:rPr>
              <a:t>/t/openai-is-winding-down-the-fine-tuning-api-and-platform-discussion-thread/1380522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MCP: only 10/113 clients support apps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modelcontextprotocol.io</a:t>
            </a:r>
            <a:r>
              <a:rPr sz="1000" dirty="0">
                <a:solidFill>
                  <a:srgbClr val="6C757D"/>
                </a:solidFill>
              </a:rPr>
              <a:t>/clients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Coursera + Udemy merger ($2.5B)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letsdatascience.com</a:t>
            </a:r>
            <a:r>
              <a:rPr sz="1000" dirty="0">
                <a:solidFill>
                  <a:srgbClr val="6C757D"/>
                </a:solidFill>
              </a:rPr>
              <a:t>/news/coursera-and-udemy-complete-25b-merger-creating-skills-platf-f913e24a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0"/>
            <a:ext cx="36576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D6EFD"/>
                </a:solidFill>
              </a:rPr>
              <a:t>👩‍💻 What I've Been Up To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Code with Claude: Foundry agent workshop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github.com</a:t>
            </a:r>
            <a:r>
              <a:rPr sz="1000" dirty="0">
                <a:solidFill>
                  <a:srgbClr val="6C757D"/>
                </a:solidFill>
              </a:rPr>
              <a:t>/</a:t>
            </a:r>
            <a:r>
              <a:rPr sz="1000" dirty="0" err="1">
                <a:solidFill>
                  <a:srgbClr val="6C757D"/>
                </a:solidFill>
              </a:rPr>
              <a:t>hnky</a:t>
            </a:r>
            <a:r>
              <a:rPr sz="1000" dirty="0">
                <a:solidFill>
                  <a:srgbClr val="6C757D"/>
                </a:solidFill>
              </a:rPr>
              <a:t>/code-with-</a:t>
            </a:r>
            <a:r>
              <a:rPr sz="1000" dirty="0" err="1">
                <a:solidFill>
                  <a:srgbClr val="6C757D"/>
                </a:solidFill>
              </a:rPr>
              <a:t>claude</a:t>
            </a:r>
            <a:r>
              <a:rPr sz="1000" dirty="0">
                <a:solidFill>
                  <a:srgbClr val="6C757D"/>
                </a:solidFill>
              </a:rPr>
              <a:t>-foundry-workshop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</a:t>
            </a:r>
            <a:r>
              <a:rPr sz="1300" dirty="0" err="1">
                <a:solidFill>
                  <a:srgbClr val="1A1A1A"/>
                </a:solidFill>
              </a:rPr>
              <a:t>PyCon</a:t>
            </a:r>
            <a:r>
              <a:rPr sz="1300" dirty="0">
                <a:solidFill>
                  <a:srgbClr val="1A1A1A"/>
                </a:solidFill>
              </a:rPr>
              <a:t> tutorial: Build MCP server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us.pycon.org</a:t>
            </a:r>
            <a:r>
              <a:rPr sz="1000" dirty="0">
                <a:solidFill>
                  <a:srgbClr val="6C757D"/>
                </a:solidFill>
              </a:rPr>
              <a:t>/2026/schedule/presentation/2/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</a:t>
            </a:r>
            <a:r>
              <a:rPr sz="1300" dirty="0" err="1">
                <a:solidFill>
                  <a:srgbClr val="1A1A1A"/>
                </a:solidFill>
              </a:rPr>
              <a:t>PyCon</a:t>
            </a:r>
            <a:r>
              <a:rPr sz="1300" dirty="0">
                <a:solidFill>
                  <a:srgbClr val="1A1A1A"/>
                </a:solidFill>
              </a:rPr>
              <a:t> </a:t>
            </a:r>
            <a:r>
              <a:rPr sz="1300" dirty="0" err="1">
                <a:solidFill>
                  <a:srgbClr val="1A1A1A"/>
                </a:solidFill>
              </a:rPr>
              <a:t>EduSummit</a:t>
            </a:r>
            <a:r>
              <a:rPr sz="1300" dirty="0">
                <a:solidFill>
                  <a:srgbClr val="1A1A1A"/>
                </a:solidFill>
              </a:rPr>
              <a:t>: AI-powered slides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us.pycon.org</a:t>
            </a:r>
            <a:r>
              <a:rPr sz="1000" dirty="0">
                <a:solidFill>
                  <a:srgbClr val="6C757D"/>
                </a:solidFill>
              </a:rPr>
              <a:t>/2026/events/education-summit/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</a:t>
            </a:r>
            <a:r>
              <a:rPr sz="1300" dirty="0" err="1">
                <a:solidFill>
                  <a:srgbClr val="1A1A1A"/>
                </a:solidFill>
              </a:rPr>
              <a:t>AgentCon</a:t>
            </a:r>
            <a:r>
              <a:rPr sz="1300" dirty="0">
                <a:solidFill>
                  <a:srgbClr val="1A1A1A"/>
                </a:solidFill>
              </a:rPr>
              <a:t>: live coverage of talks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globalai.community</a:t>
            </a:r>
            <a:r>
              <a:rPr sz="1000" dirty="0">
                <a:solidFill>
                  <a:srgbClr val="6C757D"/>
                </a:solidFill>
              </a:rPr>
              <a:t>/chapters/</a:t>
            </a:r>
            <a:r>
              <a:rPr sz="1000" dirty="0" err="1">
                <a:solidFill>
                  <a:srgbClr val="6C757D"/>
                </a:solidFill>
              </a:rPr>
              <a:t>san-francisco</a:t>
            </a:r>
            <a:r>
              <a:rPr sz="1000" dirty="0">
                <a:solidFill>
                  <a:srgbClr val="6C757D"/>
                </a:solidFill>
              </a:rPr>
              <a:t>/events/</a:t>
            </a:r>
            <a:r>
              <a:rPr sz="1000" dirty="0" err="1">
                <a:solidFill>
                  <a:srgbClr val="6C757D"/>
                </a:solidFill>
              </a:rPr>
              <a:t>agentcon</a:t>
            </a:r>
            <a:r>
              <a:rPr sz="1000" dirty="0">
                <a:solidFill>
                  <a:srgbClr val="6C757D"/>
                </a:solidFill>
              </a:rPr>
              <a:t>-silicon-valley/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SF Python meetup at GitHub HQ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meetup.com</a:t>
            </a:r>
            <a:r>
              <a:rPr sz="1000" dirty="0">
                <a:solidFill>
                  <a:srgbClr val="6C757D"/>
                </a:solidFill>
              </a:rPr>
              <a:t>/</a:t>
            </a:r>
            <a:r>
              <a:rPr sz="1000" dirty="0" err="1">
                <a:solidFill>
                  <a:srgbClr val="6C757D"/>
                </a:solidFill>
              </a:rPr>
              <a:t>sfpython</a:t>
            </a:r>
            <a:r>
              <a:rPr sz="1000" dirty="0">
                <a:solidFill>
                  <a:srgbClr val="6C757D"/>
                </a:solidFill>
              </a:rPr>
              <a:t>/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New Mac M5 Max — exploring local SLMs</a:t>
            </a:r>
          </a:p>
          <a:p>
            <a:pPr>
              <a:spcAft>
                <a:spcPts val="200"/>
              </a:spcAft>
            </a:pPr>
            <a:endParaRPr sz="1300" dirty="0">
              <a:solidFill>
                <a:srgbClr val="1A1A1A"/>
              </a:solidFill>
            </a:endParaRP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D6EFD"/>
                </a:solidFill>
              </a:rPr>
              <a:t>📅 Upcoming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May 13–14: </a:t>
            </a:r>
            <a:r>
              <a:rPr sz="1300" dirty="0" err="1">
                <a:solidFill>
                  <a:srgbClr val="1A1A1A"/>
                </a:solidFill>
              </a:rPr>
              <a:t>PyCon</a:t>
            </a:r>
            <a:r>
              <a:rPr sz="1300" dirty="0">
                <a:solidFill>
                  <a:srgbClr val="1A1A1A"/>
                </a:solidFill>
              </a:rPr>
              <a:t> US tutorials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us.pycon.org</a:t>
            </a:r>
            <a:r>
              <a:rPr sz="1000" dirty="0">
                <a:solidFill>
                  <a:srgbClr val="6C757D"/>
                </a:solidFill>
              </a:rPr>
              <a:t>/2026/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May 15–18: </a:t>
            </a:r>
            <a:r>
              <a:rPr sz="1300" dirty="0" err="1">
                <a:solidFill>
                  <a:srgbClr val="1A1A1A"/>
                </a:solidFill>
              </a:rPr>
              <a:t>PyCon</a:t>
            </a:r>
            <a:r>
              <a:rPr sz="1300" dirty="0">
                <a:solidFill>
                  <a:srgbClr val="1A1A1A"/>
                </a:solidFill>
              </a:rPr>
              <a:t> US conference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us.pycon.org</a:t>
            </a:r>
            <a:r>
              <a:rPr sz="1000" dirty="0">
                <a:solidFill>
                  <a:srgbClr val="6C757D"/>
                </a:solidFill>
              </a:rPr>
              <a:t>/2026/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Build 2026: LAB532 session</a:t>
            </a:r>
            <a:r>
              <a:rPr sz="1000" dirty="0">
                <a:solidFill>
                  <a:srgbClr val="6C757D"/>
                </a:solidFill>
              </a:rPr>
              <a:t>  </a:t>
            </a:r>
            <a:r>
              <a:rPr sz="1000" dirty="0" err="1">
                <a:solidFill>
                  <a:srgbClr val="6C757D"/>
                </a:solidFill>
              </a:rPr>
              <a:t>github.com</a:t>
            </a:r>
            <a:r>
              <a:rPr sz="1000" dirty="0">
                <a:solidFill>
                  <a:srgbClr val="6C757D"/>
                </a:solidFill>
              </a:rPr>
              <a:t>/</a:t>
            </a:r>
            <a:r>
              <a:rPr sz="1000" dirty="0" err="1">
                <a:solidFill>
                  <a:srgbClr val="6C757D"/>
                </a:solidFill>
              </a:rPr>
              <a:t>microsoft</a:t>
            </a:r>
            <a:r>
              <a:rPr sz="1000" dirty="0">
                <a:solidFill>
                  <a:srgbClr val="6C757D"/>
                </a:solidFill>
              </a:rPr>
              <a:t>/Build26-LAB532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2267</TotalTime>
  <Words>333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Pamela Fox</cp:lastModifiedBy>
  <cp:revision>2</cp:revision>
  <dcterms:created xsi:type="dcterms:W3CDTF">2013-01-27T09:14:16Z</dcterms:created>
  <dcterms:modified xsi:type="dcterms:W3CDTF">2026-05-22T05:41:46Z</dcterms:modified>
  <cp:category/>
</cp:coreProperties>
</file>