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4660"/>
  </p:normalViewPr>
  <p:slideViewPr>
    <p:cSldViewPr snapToGrid="0" snapToObjects="1">
      <p:cViewPr varScale="1">
        <p:scale>
          <a:sx n="140" d="100"/>
          <a:sy n="140" d="100"/>
        </p:scale>
        <p:origin x="232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0"/>
              </a:spcAft>
            </a:pPr>
            <a:r>
              <a:rPr sz="3000" b="1">
                <a:solidFill>
                  <a:srgbClr val="0B5ED7"/>
                </a:solidFill>
              </a:rPr>
              <a:t>🐍 Python + AI Office Hours — Weekly News Roundup — April 13,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112" y="1146324"/>
            <a:ext cx="5547887" cy="2598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6F2DA8"/>
                </a:solidFill>
              </a:rPr>
              <a:t>🏢 Microsoft / GitHub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</a:rPr>
              <a:t>• Responses API migration agent live</a:t>
            </a:r>
            <a:r>
              <a:rPr sz="1500">
                <a:solidFill>
                  <a:srgbClr val="6C757D"/>
                </a:solidFill>
              </a:rPr>
              <a:t>  </a:t>
            </a:r>
            <a:br>
              <a:rPr lang="en-US" sz="1500">
                <a:solidFill>
                  <a:srgbClr val="6C757D"/>
                </a:solidFill>
              </a:rPr>
            </a:br>
            <a:r>
              <a:rPr sz="1500">
                <a:solidFill>
                  <a:srgbClr val="6C757D"/>
                </a:solidFill>
              </a:rPr>
              <a:t>aka.ms/azure-openai-to-responses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</a:rPr>
              <a:t>• Copilot CLI remote control from mobile</a:t>
            </a:r>
            <a:r>
              <a:rPr sz="1500">
                <a:solidFill>
                  <a:srgbClr val="6C757D"/>
                </a:solidFill>
              </a:rPr>
              <a:t>  </a:t>
            </a:r>
            <a:br>
              <a:rPr lang="en-US" sz="1500">
                <a:solidFill>
                  <a:srgbClr val="6C757D"/>
                </a:solidFill>
              </a:rPr>
            </a:br>
            <a:r>
              <a:rPr lang="en-US" sz="1000">
                <a:solidFill>
                  <a:srgbClr val="6C757D"/>
                </a:solidFill>
              </a:rPr>
              <a:t>github.blog/changelog/2026-04-13-remote-control-cli-sessions-on-web-and-mobile-in-public-preview/</a:t>
            </a:r>
            <a:br>
              <a:rPr lang="en-US" sz="1500">
                <a:solidFill>
                  <a:srgbClr val="6C757D"/>
                </a:solidFill>
              </a:rPr>
            </a:br>
            <a:r>
              <a:rPr sz="1500">
                <a:solidFill>
                  <a:srgbClr val="1A1A1A"/>
                </a:solidFill>
              </a:rPr>
              <a:t>• Copilot CLI multi-model reflection reviewer</a:t>
            </a:r>
            <a:br>
              <a:rPr lang="en-US" sz="1500">
                <a:solidFill>
                  <a:srgbClr val="1A1A1A"/>
                </a:solidFill>
              </a:rPr>
            </a:b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 github.blog/ai-and-ml/github-copilot/github-copilot-cli-combines-model-families-for-a-second-opinion</a:t>
            </a:r>
            <a:endParaRPr sz="1000">
              <a:solidFill>
                <a:schemeClr val="bg1">
                  <a:lumMod val="50000"/>
                </a:schemeClr>
              </a:solidFill>
            </a:endParaRP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</a:rPr>
              <a:t>• VS Code: </a:t>
            </a:r>
            <a:r>
              <a:rPr lang="en-US" sz="1500">
                <a:solidFill>
                  <a:srgbClr val="1A1A1A"/>
                </a:solidFill>
              </a:rPr>
              <a:t>Agent customizations</a:t>
            </a:r>
            <a:br>
              <a:rPr lang="en-US" sz="1500">
                <a:solidFill>
                  <a:srgbClr val="6C757D"/>
                </a:solidFill>
              </a:rPr>
            </a:br>
            <a:r>
              <a:rPr lang="en-US" sz="1500">
                <a:solidFill>
                  <a:srgbClr val="6C757D"/>
                </a:solidFill>
              </a:rPr>
              <a:t> </a:t>
            </a:r>
            <a:r>
              <a:rPr sz="1500">
                <a:solidFill>
                  <a:srgbClr val="6C757D"/>
                </a:solidFill>
              </a:rPr>
              <a:t>youtu.be/os2eqa69gko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</a:rPr>
              <a:t>• Agent-first </a:t>
            </a:r>
            <a:r>
              <a:rPr lang="en-US" sz="1500">
                <a:solidFill>
                  <a:srgbClr val="1A1A1A"/>
                </a:solidFill>
              </a:rPr>
              <a:t>development video</a:t>
            </a:r>
            <a:r>
              <a:rPr sz="1500">
                <a:solidFill>
                  <a:srgbClr val="1A1A1A"/>
                </a:solidFill>
              </a:rPr>
              <a:t> series w/ VS Code + Copilot</a:t>
            </a:r>
            <a:br>
              <a:rPr lang="en-US" sz="1500">
                <a:solidFill>
                  <a:srgbClr val="1A1A1A"/>
                </a:solidFill>
              </a:rPr>
            </a:br>
            <a:r>
              <a:rPr lang="en-US" sz="1200">
                <a:solidFill>
                  <a:srgbClr val="1A1A1A"/>
                </a:solidFill>
              </a:rPr>
              <a:t> </a:t>
            </a:r>
            <a:r>
              <a:rPr lang="en-US" sz="1200">
                <a:solidFill>
                  <a:schemeClr val="bg1">
                    <a:lumMod val="50000"/>
                  </a:schemeClr>
                </a:solidFill>
              </a:rPr>
              <a:t>code.visualstudio.com/learn/foundations/introduction-to-agent-first-development</a:t>
            </a:r>
            <a:endParaRPr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84883" y="1146324"/>
            <a:ext cx="5159004" cy="2336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A7F37"/>
                </a:solidFill>
              </a:rPr>
              <a:t>🌐 Industry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</a:rPr>
              <a:t>• DSPy + RLMs talk: reasoning models</a:t>
            </a:r>
            <a:r>
              <a:rPr sz="1500">
                <a:solidFill>
                  <a:srgbClr val="6C757D"/>
                </a:solidFill>
              </a:rPr>
              <a:t>  youtube.com/watch?v=AsgDgYwj8wA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</a:rPr>
              <a:t>• Dropbox search relevance w/ DSPy</a:t>
            </a:r>
            <a:r>
              <a:rPr sz="1500">
                <a:solidFill>
                  <a:srgbClr val="6C757D"/>
                </a:solidFill>
              </a:rPr>
              <a:t>  youtube.com/watch?v=gGGCJWbqHqc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</a:rPr>
              <a:t>• MCP conformance suite for servers</a:t>
            </a:r>
            <a:r>
              <a:rPr sz="1500">
                <a:solidFill>
                  <a:srgbClr val="6C757D"/>
                </a:solidFill>
              </a:rPr>
              <a:t>  github.com/modelcontextprotocol/conformance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</a:rPr>
              <a:t>• ParseBench: doc OCR benchmark</a:t>
            </a:r>
            <a:r>
              <a:rPr sz="1500">
                <a:solidFill>
                  <a:srgbClr val="6C757D"/>
                </a:solidFill>
              </a:rPr>
              <a:t>  </a:t>
            </a:r>
            <a:br>
              <a:rPr lang="en-US" sz="1500">
                <a:solidFill>
                  <a:srgbClr val="6C757D"/>
                </a:solidFill>
              </a:rPr>
            </a:br>
            <a:r>
              <a:rPr lang="en-US" sz="1500">
                <a:solidFill>
                  <a:srgbClr val="6C757D"/>
                </a:solidFill>
              </a:rPr>
              <a:t>www.llamaindex.ai/blog/parsebench</a:t>
            </a:r>
            <a:endParaRPr sz="1500">
              <a:solidFill>
                <a:srgbClr val="6C757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84883" y="3936936"/>
            <a:ext cx="5159004" cy="292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D6EFD"/>
                </a:solidFill>
              </a:rPr>
              <a:t>👩‍💻 What I've Been Up To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</a:rPr>
              <a:t>• Migrated RAG demo to Responses API</a:t>
            </a:r>
            <a:r>
              <a:rPr lang="en-US" sz="1500">
                <a:solidFill>
                  <a:srgbClr val="1A1A1A"/>
                </a:solidFill>
              </a:rPr>
              <a:t>, GPT-5.4</a:t>
            </a:r>
            <a:r>
              <a:rPr sz="1500">
                <a:solidFill>
                  <a:srgbClr val="6C757D"/>
                </a:solidFill>
              </a:rPr>
              <a:t>  github.com/Azure-Samples/azure-search-openai-demo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</a:rPr>
              <a:t>• Built /review-pr-comments skill</a:t>
            </a:r>
            <a:r>
              <a:rPr sz="1500">
                <a:solidFill>
                  <a:srgbClr val="6C757D"/>
                </a:solidFill>
              </a:rPr>
              <a:t>  github.com/pamelafox/review-pr-comments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</a:rPr>
              <a:t>• Built </a:t>
            </a:r>
            <a:r>
              <a:rPr lang="en-US" sz="1500">
                <a:solidFill>
                  <a:srgbClr val="1A1A1A"/>
                </a:solidFill>
              </a:rPr>
              <a:t>/</a:t>
            </a:r>
            <a:r>
              <a:rPr sz="1500">
                <a:solidFill>
                  <a:srgbClr val="1A1A1A"/>
                </a:solidFill>
              </a:rPr>
              <a:t>recap-my-week agent skill</a:t>
            </a:r>
            <a:r>
              <a:rPr sz="1500">
                <a:solidFill>
                  <a:srgbClr val="6C757D"/>
                </a:solidFill>
              </a:rPr>
              <a:t>  github.com/pamelafox/recap-my-week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</a:rPr>
              <a:t>• Built </a:t>
            </a:r>
            <a:r>
              <a:rPr lang="en-US" sz="1500">
                <a:solidFill>
                  <a:srgbClr val="1A1A1A"/>
                </a:solidFill>
              </a:rPr>
              <a:t>/</a:t>
            </a:r>
            <a:r>
              <a:rPr sz="1500">
                <a:solidFill>
                  <a:srgbClr val="1A1A1A"/>
                </a:solidFill>
              </a:rPr>
              <a:t>comedy-roast agent skill</a:t>
            </a:r>
            <a:r>
              <a:rPr sz="1500">
                <a:solidFill>
                  <a:srgbClr val="6C757D"/>
                </a:solidFill>
              </a:rPr>
              <a:t>  github.com/pamelafox/comedy-roast-skill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</a:rPr>
              <a:t>• </a:t>
            </a:r>
            <a:r>
              <a:rPr lang="en-US" sz="1500">
                <a:solidFill>
                  <a:srgbClr val="1A1A1A"/>
                </a:solidFill>
              </a:rPr>
              <a:t>Used</a:t>
            </a:r>
            <a:r>
              <a:rPr sz="1500">
                <a:solidFill>
                  <a:srgbClr val="1A1A1A"/>
                </a:solidFill>
              </a:rPr>
              <a:t> MCP elicitations in FastMCP</a:t>
            </a:r>
            <a:r>
              <a:rPr sz="1500">
                <a:solidFill>
                  <a:srgbClr val="6C757D"/>
                </a:solidFill>
              </a:rPr>
              <a:t>  gofastmcp.com/servers/elicitation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2873" y="3961110"/>
            <a:ext cx="5547887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E36209"/>
                </a:solidFill>
              </a:rPr>
              <a:t>📅 Upcoming Events</a:t>
            </a:r>
            <a:br>
              <a:rPr lang="en-US" sz="1500">
                <a:solidFill>
                  <a:srgbClr val="1A1A1A"/>
                </a:solidFill>
              </a:rPr>
            </a:br>
            <a:r>
              <a:rPr lang="en-US" sz="1500">
                <a:solidFill>
                  <a:srgbClr val="1A1A1A"/>
                </a:solidFill>
              </a:rPr>
              <a:t>• Host your agents on Foundry (Online): Apr 27-30</a:t>
            </a:r>
            <a:r>
              <a:rPr lang="en-US" sz="1500">
                <a:solidFill>
                  <a:srgbClr val="6C757D"/>
                </a:solidFill>
              </a:rPr>
              <a:t>  </a:t>
            </a:r>
            <a:br>
              <a:rPr lang="en-US" sz="1500">
                <a:solidFill>
                  <a:srgbClr val="6C757D"/>
                </a:solidFill>
              </a:rPr>
            </a:br>
            <a:r>
              <a:rPr lang="en-US" sz="1500">
                <a:solidFill>
                  <a:srgbClr val="6C757D"/>
                </a:solidFill>
              </a:rPr>
              <a:t> https://aka.ms/AgentsOnFoundry/series</a:t>
            </a:r>
          </a:p>
          <a:p>
            <a:pPr>
              <a:spcAft>
                <a:spcPts val="300"/>
              </a:spcAft>
            </a:pPr>
            <a:r>
              <a:rPr lang="en-US" sz="1500">
                <a:solidFill>
                  <a:srgbClr val="1A1A1A"/>
                </a:solidFill>
              </a:rPr>
              <a:t>• Azure Cosmos DB Conf (Online): April 28</a:t>
            </a:r>
            <a:br>
              <a:rPr lang="en-US" sz="1500">
                <a:solidFill>
                  <a:srgbClr val="1A1A1A"/>
                </a:solidFill>
              </a:rPr>
            </a:br>
            <a:r>
              <a:rPr lang="en-US" sz="1500">
                <a:solidFill>
                  <a:srgbClr val="1A1A1A"/>
                </a:solidFill>
              </a:rPr>
              <a:t> </a:t>
            </a:r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developer.azurecosmosdb.com/conf/</a:t>
            </a:r>
            <a:br>
              <a:rPr lang="en-US" sz="1500">
                <a:solidFill>
                  <a:srgbClr val="1A1A1A"/>
                </a:solidFill>
              </a:rPr>
            </a:br>
            <a:r>
              <a:rPr sz="1500">
                <a:solidFill>
                  <a:srgbClr val="1A1A1A"/>
                </a:solidFill>
              </a:rPr>
              <a:t>• AgentCon </a:t>
            </a:r>
            <a:r>
              <a:rPr lang="en-US" sz="1500">
                <a:solidFill>
                  <a:srgbClr val="1A1A1A"/>
                </a:solidFill>
              </a:rPr>
              <a:t>(</a:t>
            </a:r>
            <a:r>
              <a:rPr sz="1500">
                <a:solidFill>
                  <a:srgbClr val="1A1A1A"/>
                </a:solidFill>
              </a:rPr>
              <a:t>Silicon Valley</a:t>
            </a:r>
            <a:r>
              <a:rPr lang="en-US" sz="1500">
                <a:solidFill>
                  <a:srgbClr val="1A1A1A"/>
                </a:solidFill>
              </a:rPr>
              <a:t>): </a:t>
            </a:r>
            <a:r>
              <a:rPr sz="1500">
                <a:solidFill>
                  <a:srgbClr val="1A1A1A"/>
                </a:solidFill>
              </a:rPr>
              <a:t>May 4</a:t>
            </a:r>
            <a:r>
              <a:rPr sz="1500">
                <a:solidFill>
                  <a:srgbClr val="6C757D"/>
                </a:solidFill>
              </a:rPr>
              <a:t>  </a:t>
            </a:r>
            <a:br>
              <a:rPr lang="en-US" sz="1500">
                <a:solidFill>
                  <a:srgbClr val="6C757D"/>
                </a:solidFill>
              </a:rPr>
            </a:br>
            <a:r>
              <a:rPr lang="en-US" sz="1500">
                <a:solidFill>
                  <a:srgbClr val="6C757D"/>
                </a:solidFill>
              </a:rPr>
              <a:t> </a:t>
            </a:r>
            <a:r>
              <a:rPr sz="1500">
                <a:solidFill>
                  <a:srgbClr val="6C757D"/>
                </a:solidFill>
              </a:rPr>
              <a:t>agentcon.city/silicon-valley</a:t>
            </a:r>
            <a:endParaRPr lang="en-US" sz="1500">
              <a:solidFill>
                <a:srgbClr val="6C757D"/>
              </a:solidFill>
            </a:endParaRP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</a:rPr>
              <a:t>• PyCon US (Long Beach)</a:t>
            </a:r>
            <a:r>
              <a:rPr lang="en-US" sz="1500">
                <a:solidFill>
                  <a:srgbClr val="1A1A1A"/>
                </a:solidFill>
              </a:rPr>
              <a:t>:</a:t>
            </a:r>
            <a:r>
              <a:rPr sz="1500">
                <a:solidFill>
                  <a:srgbClr val="1A1A1A"/>
                </a:solidFill>
              </a:rPr>
              <a:t> May 13-19</a:t>
            </a:r>
            <a:br>
              <a:rPr lang="en-US" sz="1500">
                <a:solidFill>
                  <a:srgbClr val="6C757D"/>
                </a:solidFill>
              </a:rPr>
            </a:br>
            <a:r>
              <a:rPr lang="en-US" sz="1500">
                <a:solidFill>
                  <a:srgbClr val="6C757D"/>
                </a:solidFill>
              </a:rPr>
              <a:t> </a:t>
            </a:r>
            <a:r>
              <a:rPr sz="1500">
                <a:solidFill>
                  <a:srgbClr val="6C757D"/>
                </a:solidFill>
              </a:rPr>
              <a:t>us.pycon.org/2026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</a:rPr>
              <a:t>• </a:t>
            </a:r>
            <a:r>
              <a:rPr lang="en-US" sz="1500">
                <a:solidFill>
                  <a:srgbClr val="1A1A1A"/>
                </a:solidFill>
              </a:rPr>
              <a:t>Microsoft Build (SF): </a:t>
            </a:r>
            <a:r>
              <a:rPr sz="1500">
                <a:solidFill>
                  <a:srgbClr val="1A1A1A"/>
                </a:solidFill>
              </a:rPr>
              <a:t>June</a:t>
            </a:r>
            <a:r>
              <a:rPr lang="en-US" sz="1500">
                <a:solidFill>
                  <a:srgbClr val="1A1A1A"/>
                </a:solidFill>
              </a:rPr>
              <a:t> 2-3</a:t>
            </a:r>
            <a:br>
              <a:rPr lang="en-US" sz="1500">
                <a:solidFill>
                  <a:srgbClr val="6C757D"/>
                </a:solidFill>
              </a:rPr>
            </a:br>
            <a:r>
              <a:rPr lang="en-US" sz="1500">
                <a:solidFill>
                  <a:srgbClr val="6C757D"/>
                </a:solidFill>
              </a:rPr>
              <a:t> aka.ms/MS_Build_26_DAC26</a:t>
            </a:r>
            <a:endParaRPr sz="1500">
              <a:solidFill>
                <a:srgbClr val="6C757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341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Pamela Fox</cp:lastModifiedBy>
  <cp:revision>3</cp:revision>
  <dcterms:created xsi:type="dcterms:W3CDTF">2013-01-27T09:14:16Z</dcterms:created>
  <dcterms:modified xsi:type="dcterms:W3CDTF">2026-04-14T19:16:16Z</dcterms:modified>
  <cp:category/>
</cp:coreProperties>
</file>