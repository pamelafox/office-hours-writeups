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386"/>
    <p:restoredTop sz="94673"/>
  </p:normalViewPr>
  <p:slideViewPr>
    <p:cSldViewPr snapToGrid="0" snapToObjects="1">
      <p:cViewPr varScale="1">
        <p:scale>
          <a:sx n="137" d="100"/>
          <a:sy n="137" d="100"/>
        </p:scale>
        <p:origin x="243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B5ED7"/>
                </a:solidFill>
              </a:rPr>
              <a:t>🐍 Python + AI Office Hours — Weekly News Roundup — April 27,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3749039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6F2DA8"/>
                </a:solidFill>
              </a:rPr>
              <a:t>🏢 Microsoft / GitHub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Foundry Hosted Agents preview launched</a:t>
            </a:r>
            <a:r>
              <a:rPr sz="1000">
                <a:solidFill>
                  <a:srgbClr val="6C757D"/>
                </a:solidFill>
              </a:rPr>
              <a:t>  devblogs.microsoft.com/foundry/introducing-the-new-hosted-agents-in-foundry-agent-service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Copilot moving to usage-based billing</a:t>
            </a:r>
            <a:r>
              <a:rPr sz="1000">
                <a:solidFill>
                  <a:srgbClr val="6C757D"/>
                </a:solidFill>
              </a:rPr>
              <a:t>  github.blog/news-insights/company-news/github-copilot-is-moving-to-usage-based-billing/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GPT-5.5 now in Azure Foundry (Apr 23)</a:t>
            </a:r>
            <a:r>
              <a:rPr sz="1000">
                <a:solidFill>
                  <a:srgbClr val="6C757D"/>
                </a:solidFill>
              </a:rPr>
              <a:t>  azure.microsoft.com/en-us/blog/openais-gpt-5-5-in-microsoft-foundry-frontier-intelligence-on-an-enterprise-ready-platform/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VS Code 1.117: Copilot BYOK for teams</a:t>
            </a:r>
            <a:r>
              <a:rPr sz="1000">
                <a:solidFill>
                  <a:srgbClr val="6C757D"/>
                </a:solidFill>
              </a:rPr>
              <a:t>  code.visualstudio.com/updates/v1_117</a:t>
            </a:r>
            <a:endParaRPr lang="en-US" sz="100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1A1A1A"/>
                </a:solidFill>
              </a:rPr>
              <a:t>• GitHub merge queues deep-dive shared</a:t>
            </a:r>
            <a:r>
              <a:rPr lang="en-US" sz="1000">
                <a:solidFill>
                  <a:srgbClr val="6C757D"/>
                </a:solidFill>
              </a:rPr>
              <a:t>  humanwhocodes.com/blog/2026/04/improving-developer-velocity-github-merge-queue/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822960"/>
            <a:ext cx="374903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A7F37"/>
                </a:solidFill>
              </a:rPr>
              <a:t>🌐 Industry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Simon W: GPT-5.5, ChatGPT Images 2.0</a:t>
            </a:r>
            <a:r>
              <a:rPr sz="1000">
                <a:solidFill>
                  <a:srgbClr val="6C757D"/>
                </a:solidFill>
              </a:rPr>
              <a:t>  simonw.substack.com/p/gpt-55-chatgpt-images-20-qwen36-27b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FastMCP 3.2: full MCP Apps support</a:t>
            </a:r>
            <a:r>
              <a:rPr sz="1000">
                <a:solidFill>
                  <a:srgbClr val="6C757D"/>
                </a:solidFill>
              </a:rPr>
              <a:t>  jlowin.dev/blog/fastmcp-3-2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Pydantic Monty: $5K sandbox escape bounty</a:t>
            </a:r>
            <a:r>
              <a:rPr sz="1000">
                <a:solidFill>
                  <a:srgbClr val="6C757D"/>
                </a:solidFill>
              </a:rPr>
              <a:t>  pydantic.dev/articles/hack-monty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Pydantic: MCP tools for token efficiency</a:t>
            </a:r>
            <a:r>
              <a:rPr sz="1000">
                <a:solidFill>
                  <a:srgbClr val="6C757D"/>
                </a:solidFill>
              </a:rPr>
              <a:t>  pydantic.dev/articles/engineering-mcp-tools-for-token-efficiency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LangChain.js for Beginners course</a:t>
            </a:r>
            <a:r>
              <a:rPr sz="1000">
                <a:solidFill>
                  <a:srgbClr val="6C757D"/>
                </a:solidFill>
              </a:rPr>
              <a:t>  x.com/DanWahlin/status/2047374716412064100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LangChain middleware ecosystem page</a:t>
            </a:r>
            <a:r>
              <a:rPr sz="1000">
                <a:solidFill>
                  <a:srgbClr val="6C757D"/>
                </a:solidFill>
              </a:rPr>
              <a:t>  docs.langchain.com/oss/python/integrations/middleware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Opus 4.7: first 25/25 on agentic SQL bench</a:t>
            </a:r>
            <a:r>
              <a:rPr sz="1000">
                <a:solidFill>
                  <a:srgbClr val="6C757D"/>
                </a:solidFill>
              </a:rPr>
              <a:t>  sql-benchmark.nicklothian.com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0"/>
            <a:ext cx="3962400" cy="271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D6EFD"/>
                </a:solidFill>
              </a:rPr>
              <a:t>👩‍💻 What I've Been Up To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Livestream: Host your agents on Foundry</a:t>
            </a:r>
            <a:r>
              <a:rPr sz="1000">
                <a:solidFill>
                  <a:srgbClr val="6C757D"/>
                </a:solidFill>
              </a:rPr>
              <a:t>  aka.ms/AgentsOnFoundry/series/x</a:t>
            </a: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1A1A1A"/>
                </a:solidFill>
              </a:rPr>
              <a:t>• Deployed  Anthropic to Foundry</a:t>
            </a:r>
          </a:p>
          <a:p>
            <a:pPr>
              <a:spcAft>
                <a:spcPts val="300"/>
              </a:spcAft>
            </a:pPr>
            <a:r>
              <a:rPr lang="en-US" sz="1000">
                <a:solidFill>
                  <a:srgbClr val="6C757D"/>
                </a:solidFill>
              </a:rPr>
              <a:t>https://github.com/pamelafox/python-foundryagent-anthropic-demo/</a:t>
            </a:r>
            <a:endParaRPr sz="100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Monty code-exec tool for agent-framework</a:t>
            </a:r>
            <a:r>
              <a:rPr sz="1000">
                <a:solidFill>
                  <a:srgbClr val="6C757D"/>
                </a:solidFill>
              </a:rPr>
              <a:t>  gist.github.com/pamelafox/47c380e63687164fe1748c231f07998f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presentation-skills repo for Copilot</a:t>
            </a:r>
            <a:r>
              <a:rPr sz="1000">
                <a:solidFill>
                  <a:srgbClr val="6C757D"/>
                </a:solidFill>
              </a:rPr>
              <a:t>  github.com/pamelafox/presentation-skills</a:t>
            </a:r>
            <a:endParaRPr lang="en-US" sz="100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1A1A1A"/>
                </a:solidFill>
              </a:rPr>
              <a:t>• Experimenting with MAI-Image-2</a:t>
            </a: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6C757D"/>
                </a:solidFill>
              </a:rPr>
              <a:t>https://mai-image2.com/</a:t>
            </a:r>
            <a:endParaRPr sz="1300">
              <a:solidFill>
                <a:srgbClr val="6C757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DAC9E-1539-C8C3-2D77-C0DD77924EE0}"/>
              </a:ext>
            </a:extLst>
          </p:cNvPr>
          <p:cNvSpPr txBox="1"/>
          <p:nvPr/>
        </p:nvSpPr>
        <p:spPr>
          <a:xfrm>
            <a:off x="365760" y="4277030"/>
            <a:ext cx="8342305" cy="1867178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E36209"/>
                </a:solidFill>
              </a:rPr>
              <a:t>📅 Upcoming Events</a:t>
            </a:r>
            <a:br>
              <a:rPr lang="en-US" sz="1600">
                <a:solidFill>
                  <a:srgbClr val="1A1A1A"/>
                </a:solidFill>
              </a:rPr>
            </a:br>
            <a:r>
              <a:rPr lang="en-US" sz="1600">
                <a:solidFill>
                  <a:srgbClr val="1A1A1A"/>
                </a:solidFill>
              </a:rPr>
              <a:t>• Host your agents on Foundry (Online): Apr 27-30</a:t>
            </a:r>
            <a:r>
              <a:rPr lang="en-US" sz="1600">
                <a:solidFill>
                  <a:srgbClr val="6C757D"/>
                </a:solidFill>
              </a:rPr>
              <a:t>  </a:t>
            </a:r>
            <a:br>
              <a:rPr lang="en-US" sz="1600">
                <a:solidFill>
                  <a:srgbClr val="6C757D"/>
                </a:solidFill>
              </a:rPr>
            </a:br>
            <a:r>
              <a:rPr lang="en-US" sz="1600">
                <a:solidFill>
                  <a:srgbClr val="6C757D"/>
                </a:solidFill>
              </a:rPr>
              <a:t> https://aka.ms/AgentsOnFoundry/series</a:t>
            </a:r>
          </a:p>
          <a:p>
            <a:pPr>
              <a:spcAft>
                <a:spcPts val="300"/>
              </a:spcAft>
            </a:pPr>
            <a:r>
              <a:rPr lang="en-US" sz="1600">
                <a:solidFill>
                  <a:srgbClr val="1A1A1A"/>
                </a:solidFill>
              </a:rPr>
              <a:t>• Azure Cosmos DB Conf (Online): April 28</a:t>
            </a:r>
            <a:br>
              <a:rPr lang="en-US" sz="1600">
                <a:solidFill>
                  <a:srgbClr val="1A1A1A"/>
                </a:solidFill>
              </a:rPr>
            </a:br>
            <a:r>
              <a:rPr lang="en-US" sz="1600">
                <a:solidFill>
                  <a:srgbClr val="1A1A1A"/>
                </a:solidFill>
              </a:rPr>
              <a:t> 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</a:rPr>
              <a:t>developer.azurecosmosdb.com/conf/</a:t>
            </a:r>
            <a:br>
              <a:rPr lang="en-US" sz="1600">
                <a:solidFill>
                  <a:srgbClr val="1A1A1A"/>
                </a:solidFill>
              </a:rPr>
            </a:br>
            <a:r>
              <a:rPr sz="1600">
                <a:solidFill>
                  <a:srgbClr val="1A1A1A"/>
                </a:solidFill>
              </a:rPr>
              <a:t>• AgentCon </a:t>
            </a:r>
            <a:r>
              <a:rPr lang="en-US" sz="1600">
                <a:solidFill>
                  <a:srgbClr val="1A1A1A"/>
                </a:solidFill>
              </a:rPr>
              <a:t>(</a:t>
            </a:r>
            <a:r>
              <a:rPr sz="1600">
                <a:solidFill>
                  <a:srgbClr val="1A1A1A"/>
                </a:solidFill>
              </a:rPr>
              <a:t>Silicon Valley</a:t>
            </a:r>
            <a:r>
              <a:rPr lang="en-US" sz="1600">
                <a:solidFill>
                  <a:srgbClr val="1A1A1A"/>
                </a:solidFill>
              </a:rPr>
              <a:t>): </a:t>
            </a:r>
            <a:r>
              <a:rPr sz="1600">
                <a:solidFill>
                  <a:srgbClr val="1A1A1A"/>
                </a:solidFill>
              </a:rPr>
              <a:t>May 4</a:t>
            </a:r>
            <a:r>
              <a:rPr sz="1600">
                <a:solidFill>
                  <a:srgbClr val="6C757D"/>
                </a:solidFill>
              </a:rPr>
              <a:t>  </a:t>
            </a:r>
            <a:br>
              <a:rPr lang="en-US" sz="1600">
                <a:solidFill>
                  <a:srgbClr val="6C757D"/>
                </a:solidFill>
              </a:rPr>
            </a:br>
            <a:r>
              <a:rPr lang="en-US" sz="1600">
                <a:solidFill>
                  <a:srgbClr val="6C757D"/>
                </a:solidFill>
              </a:rPr>
              <a:t> </a:t>
            </a:r>
            <a:r>
              <a:rPr sz="1600">
                <a:solidFill>
                  <a:srgbClr val="6C757D"/>
                </a:solidFill>
              </a:rPr>
              <a:t>agentcon.city/silicon-valley</a:t>
            </a:r>
            <a:endParaRPr lang="en-US" sz="1600">
              <a:solidFill>
                <a:srgbClr val="6C757D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26DFC-2260-A3EC-FE57-92074182F27E}"/>
              </a:ext>
            </a:extLst>
          </p:cNvPr>
          <p:cNvSpPr txBox="1"/>
          <p:nvPr/>
        </p:nvSpPr>
        <p:spPr>
          <a:xfrm>
            <a:off x="4902151" y="4504851"/>
            <a:ext cx="6097772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>
                <a:solidFill>
                  <a:srgbClr val="1A1A1A"/>
                </a:solidFill>
              </a:rPr>
              <a:t>• PyCon US (Long Beach): May 13-19</a:t>
            </a:r>
            <a:br>
              <a:rPr lang="en-US" sz="1600">
                <a:solidFill>
                  <a:srgbClr val="6C757D"/>
                </a:solidFill>
              </a:rPr>
            </a:br>
            <a:r>
              <a:rPr lang="en-US" sz="1600">
                <a:solidFill>
                  <a:srgbClr val="6C757D"/>
                </a:solidFill>
              </a:rPr>
              <a:t> us.pycon.org/2026</a:t>
            </a:r>
          </a:p>
          <a:p>
            <a:pPr>
              <a:spcAft>
                <a:spcPts val="300"/>
              </a:spcAft>
            </a:pPr>
            <a:r>
              <a:rPr lang="en-US" sz="1600">
                <a:solidFill>
                  <a:srgbClr val="1A1A1A"/>
                </a:solidFill>
              </a:rPr>
              <a:t>• Microsoft Build (SF): June 2-3</a:t>
            </a:r>
            <a:br>
              <a:rPr lang="en-US" sz="1600">
                <a:solidFill>
                  <a:srgbClr val="6C757D"/>
                </a:solidFill>
              </a:rPr>
            </a:br>
            <a:r>
              <a:rPr lang="en-US" sz="1600">
                <a:solidFill>
                  <a:srgbClr val="6C757D"/>
                </a:solidFill>
              </a:rPr>
              <a:t> aka.ms/MS_Build_26_DAC26</a:t>
            </a:r>
          </a:p>
          <a:p>
            <a:pPr>
              <a:spcAft>
                <a:spcPts val="300"/>
              </a:spcAft>
            </a:pPr>
            <a:r>
              <a:rPr lang="en-US" sz="1600">
                <a:solidFill>
                  <a:srgbClr val="1A1A1A"/>
                </a:solidFill>
              </a:rPr>
              <a:t>• Posette (Online): June 16</a:t>
            </a:r>
          </a:p>
          <a:p>
            <a:pPr>
              <a:spcAft>
                <a:spcPts val="300"/>
              </a:spcAft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</a:rPr>
              <a:t>  posetteconf.com/2026/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411</Words>
  <Application>Microsoft Macintosh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Pamela Fox</cp:lastModifiedBy>
  <cp:revision>3</cp:revision>
  <dcterms:created xsi:type="dcterms:W3CDTF">2013-01-27T09:14:16Z</dcterms:created>
  <dcterms:modified xsi:type="dcterms:W3CDTF">2026-04-28T23:45:39Z</dcterms:modified>
  <cp:category/>
</cp:coreProperties>
</file>